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removePersonalInfoOnSave="1" saveSubsetFonts="1">
  <p:sldMasterIdLst>
    <p:sldMasterId id="2147483677" r:id="rId4"/>
  </p:sldMasterIdLst>
  <p:notesMasterIdLst>
    <p:notesMasterId r:id="rId27"/>
  </p:notesMasterIdLst>
  <p:handoutMasterIdLst>
    <p:handoutMasterId r:id="rId28"/>
  </p:handoutMasterIdLst>
  <p:sldIdLst>
    <p:sldId id="265" r:id="rId5"/>
    <p:sldId id="291" r:id="rId6"/>
    <p:sldId id="292" r:id="rId7"/>
    <p:sldId id="293" r:id="rId8"/>
    <p:sldId id="269" r:id="rId9"/>
    <p:sldId id="270" r:id="rId10"/>
    <p:sldId id="271" r:id="rId11"/>
    <p:sldId id="274" r:id="rId12"/>
    <p:sldId id="275" r:id="rId13"/>
    <p:sldId id="272" r:id="rId14"/>
    <p:sldId id="273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96" r:id="rId24"/>
    <p:sldId id="297" r:id="rId25"/>
    <p:sldId id="298" r:id="rId26"/>
  </p:sldIdLst>
  <p:sldSz cx="12188825" cy="6858000"/>
  <p:notesSz cx="6858000" cy="9144000"/>
  <p:custDataLst>
    <p:tags r:id="rId29"/>
  </p:custDataLst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0157" autoAdjust="0"/>
  </p:normalViewPr>
  <p:slideViewPr>
    <p:cSldViewPr showGuides="1">
      <p:cViewPr varScale="1">
        <p:scale>
          <a:sx n="61" d="100"/>
          <a:sy n="61" d="100"/>
        </p:scale>
        <p:origin x="648" y="48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100" d="100"/>
          <a:sy n="100" d="100"/>
        </p:scale>
        <p:origin x="280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F72737-E10E-4FB1-AE89-7F5A7D1A8DFC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0B5B0269-416E-41FA-A218-6446B3D8766A}">
      <dgm:prSet phldrT="[文字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altLang="zh-TW" b="1" dirty="0">
              <a:latin typeface="Times New Roman" panose="02020603050405020304" pitchFamily="18" charset="0"/>
              <a:cs typeface="Times New Roman" panose="02020603050405020304" pitchFamily="18" charset="0"/>
            </a:rPr>
            <a:t>HTML</a:t>
          </a:r>
          <a:endParaRPr lang="zh-TW" alt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ABE77FA-43D9-4A64-8CE2-5A7F49C11619}" type="parTrans" cxnId="{86C83572-D7EC-4810-8D29-FF245B038DEC}">
      <dgm:prSet/>
      <dgm:spPr/>
      <dgm:t>
        <a:bodyPr/>
        <a:lstStyle/>
        <a:p>
          <a:endParaRPr lang="zh-TW" altLang="en-US"/>
        </a:p>
      </dgm:t>
    </dgm:pt>
    <dgm:pt modelId="{ECD7D0CA-4CF7-4CE9-9C8C-C389EE41B56E}" type="sibTrans" cxnId="{86C83572-D7EC-4810-8D29-FF245B038DEC}">
      <dgm:prSet/>
      <dgm:spPr/>
      <dgm:t>
        <a:bodyPr/>
        <a:lstStyle/>
        <a:p>
          <a:endParaRPr lang="zh-TW" altLang="en-US"/>
        </a:p>
      </dgm:t>
    </dgm:pt>
    <dgm:pt modelId="{CD46F90D-F4FE-4CA7-B74F-74B95E816D6D}">
      <dgm:prSet phldrT="[文字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altLang="zh-TW" b="1" dirty="0">
              <a:latin typeface="Times New Roman" panose="02020603050405020304" pitchFamily="18" charset="0"/>
              <a:cs typeface="Times New Roman" panose="02020603050405020304" pitchFamily="18" charset="0"/>
            </a:rPr>
            <a:t>CSS</a:t>
          </a:r>
          <a:endParaRPr lang="zh-TW" alt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354D87D-A4AA-47A7-BD2B-BD36D25EB23B}" type="parTrans" cxnId="{11E3B335-F08F-4D38-9886-F9FF9A319DF9}">
      <dgm:prSet/>
      <dgm:spPr/>
      <dgm:t>
        <a:bodyPr/>
        <a:lstStyle/>
        <a:p>
          <a:endParaRPr lang="zh-TW" altLang="en-US"/>
        </a:p>
      </dgm:t>
    </dgm:pt>
    <dgm:pt modelId="{E45DCA49-9F91-4020-8C5F-2A53B5A6662B}" type="sibTrans" cxnId="{11E3B335-F08F-4D38-9886-F9FF9A319DF9}">
      <dgm:prSet/>
      <dgm:spPr/>
      <dgm:t>
        <a:bodyPr/>
        <a:lstStyle/>
        <a:p>
          <a:endParaRPr lang="zh-TW" altLang="en-US"/>
        </a:p>
      </dgm:t>
    </dgm:pt>
    <dgm:pt modelId="{F506ABCE-C9E7-4E08-8660-85FBE73CCCB9}">
      <dgm:prSet phldrT="[文字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altLang="zh-TW" b="1" dirty="0">
              <a:latin typeface="Times New Roman" panose="02020603050405020304" pitchFamily="18" charset="0"/>
              <a:cs typeface="Times New Roman" panose="02020603050405020304" pitchFamily="18" charset="0"/>
            </a:rPr>
            <a:t>JAVASCRIPT</a:t>
          </a:r>
          <a:endParaRPr lang="zh-TW" alt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6DE6B13-2A6D-419A-A6D6-72DAA32360F7}" type="parTrans" cxnId="{AF2C7445-5121-4FF3-BCAA-C5C1FAD0B313}">
      <dgm:prSet/>
      <dgm:spPr/>
      <dgm:t>
        <a:bodyPr/>
        <a:lstStyle/>
        <a:p>
          <a:endParaRPr lang="zh-TW" altLang="en-US"/>
        </a:p>
      </dgm:t>
    </dgm:pt>
    <dgm:pt modelId="{6D223B01-77CF-49CF-A247-E2C03D374A1F}" type="sibTrans" cxnId="{AF2C7445-5121-4FF3-BCAA-C5C1FAD0B313}">
      <dgm:prSet/>
      <dgm:spPr/>
      <dgm:t>
        <a:bodyPr/>
        <a:lstStyle/>
        <a:p>
          <a:endParaRPr lang="zh-TW" altLang="en-US"/>
        </a:p>
      </dgm:t>
    </dgm:pt>
    <dgm:pt modelId="{AA0988CF-6FF1-4F22-8D50-BFF507240A55}" type="pres">
      <dgm:prSet presAssocID="{9EF72737-E10E-4FB1-AE89-7F5A7D1A8DFC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20A5B773-8BD5-47A2-8B44-154D52C041FC}" type="pres">
      <dgm:prSet presAssocID="{0B5B0269-416E-41FA-A218-6446B3D8766A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690BC3E-805C-494F-BDF9-C16CB554A271}" type="pres">
      <dgm:prSet presAssocID="{0B5B0269-416E-41FA-A218-6446B3D8766A}" presName="spNode" presStyleCnt="0"/>
      <dgm:spPr/>
    </dgm:pt>
    <dgm:pt modelId="{B4843129-9E18-4F64-B1C9-5DE11CF6DDAE}" type="pres">
      <dgm:prSet presAssocID="{ECD7D0CA-4CF7-4CE9-9C8C-C389EE41B56E}" presName="sibTrans" presStyleLbl="sibTrans1D1" presStyleIdx="0" presStyleCnt="3"/>
      <dgm:spPr/>
      <dgm:t>
        <a:bodyPr/>
        <a:lstStyle/>
        <a:p>
          <a:endParaRPr lang="zh-TW" altLang="en-US"/>
        </a:p>
      </dgm:t>
    </dgm:pt>
    <dgm:pt modelId="{D5694CFC-41D3-45CC-AD2D-D4A359B632BD}" type="pres">
      <dgm:prSet presAssocID="{CD46F90D-F4FE-4CA7-B74F-74B95E816D6D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02B5E47-1E7E-49BD-AB15-8F50166B978E}" type="pres">
      <dgm:prSet presAssocID="{CD46F90D-F4FE-4CA7-B74F-74B95E816D6D}" presName="spNode" presStyleCnt="0"/>
      <dgm:spPr/>
    </dgm:pt>
    <dgm:pt modelId="{E2B56E6D-FBE7-4685-9244-2B25C7AFC801}" type="pres">
      <dgm:prSet presAssocID="{E45DCA49-9F91-4020-8C5F-2A53B5A6662B}" presName="sibTrans" presStyleLbl="sibTrans1D1" presStyleIdx="1" presStyleCnt="3"/>
      <dgm:spPr/>
      <dgm:t>
        <a:bodyPr/>
        <a:lstStyle/>
        <a:p>
          <a:endParaRPr lang="zh-TW" altLang="en-US"/>
        </a:p>
      </dgm:t>
    </dgm:pt>
    <dgm:pt modelId="{06F002A9-8554-40E4-AF83-C0F0D8A11B5E}" type="pres">
      <dgm:prSet presAssocID="{F506ABCE-C9E7-4E08-8660-85FBE73CCCB9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1E5E98C-C1A2-4D04-A209-FA59AC4C6A02}" type="pres">
      <dgm:prSet presAssocID="{F506ABCE-C9E7-4E08-8660-85FBE73CCCB9}" presName="spNode" presStyleCnt="0"/>
      <dgm:spPr/>
    </dgm:pt>
    <dgm:pt modelId="{0482AC9E-A59A-48AB-A293-88A0D6015484}" type="pres">
      <dgm:prSet presAssocID="{6D223B01-77CF-49CF-A247-E2C03D374A1F}" presName="sibTrans" presStyleLbl="sibTrans1D1" presStyleIdx="2" presStyleCnt="3"/>
      <dgm:spPr/>
      <dgm:t>
        <a:bodyPr/>
        <a:lstStyle/>
        <a:p>
          <a:endParaRPr lang="zh-TW" altLang="en-US"/>
        </a:p>
      </dgm:t>
    </dgm:pt>
  </dgm:ptLst>
  <dgm:cxnLst>
    <dgm:cxn modelId="{868F342D-88AF-49A8-A0E8-16719FA6E815}" type="presOf" srcId="{ECD7D0CA-4CF7-4CE9-9C8C-C389EE41B56E}" destId="{B4843129-9E18-4F64-B1C9-5DE11CF6DDAE}" srcOrd="0" destOrd="0" presId="urn:microsoft.com/office/officeart/2005/8/layout/cycle6"/>
    <dgm:cxn modelId="{643AC594-0D24-4A5F-856D-1723924C9D9A}" type="presOf" srcId="{0B5B0269-416E-41FA-A218-6446B3D8766A}" destId="{20A5B773-8BD5-47A2-8B44-154D52C041FC}" srcOrd="0" destOrd="0" presId="urn:microsoft.com/office/officeart/2005/8/layout/cycle6"/>
    <dgm:cxn modelId="{CF2918D6-DB93-4593-826D-251C8EDFCFAC}" type="presOf" srcId="{F506ABCE-C9E7-4E08-8660-85FBE73CCCB9}" destId="{06F002A9-8554-40E4-AF83-C0F0D8A11B5E}" srcOrd="0" destOrd="0" presId="urn:microsoft.com/office/officeart/2005/8/layout/cycle6"/>
    <dgm:cxn modelId="{07E01EDB-B629-4348-BDF6-F53CD470F24A}" type="presOf" srcId="{CD46F90D-F4FE-4CA7-B74F-74B95E816D6D}" destId="{D5694CFC-41D3-45CC-AD2D-D4A359B632BD}" srcOrd="0" destOrd="0" presId="urn:microsoft.com/office/officeart/2005/8/layout/cycle6"/>
    <dgm:cxn modelId="{004EAE0D-A40A-4B0B-811C-4E377107445F}" type="presOf" srcId="{E45DCA49-9F91-4020-8C5F-2A53B5A6662B}" destId="{E2B56E6D-FBE7-4685-9244-2B25C7AFC801}" srcOrd="0" destOrd="0" presId="urn:microsoft.com/office/officeart/2005/8/layout/cycle6"/>
    <dgm:cxn modelId="{5F6B61CF-0154-413A-B1C7-2E067BE2A583}" type="presOf" srcId="{6D223B01-77CF-49CF-A247-E2C03D374A1F}" destId="{0482AC9E-A59A-48AB-A293-88A0D6015484}" srcOrd="0" destOrd="0" presId="urn:microsoft.com/office/officeart/2005/8/layout/cycle6"/>
    <dgm:cxn modelId="{B2297997-5442-4613-8E29-5AA82D304D6C}" type="presOf" srcId="{9EF72737-E10E-4FB1-AE89-7F5A7D1A8DFC}" destId="{AA0988CF-6FF1-4F22-8D50-BFF507240A55}" srcOrd="0" destOrd="0" presId="urn:microsoft.com/office/officeart/2005/8/layout/cycle6"/>
    <dgm:cxn modelId="{AF2C7445-5121-4FF3-BCAA-C5C1FAD0B313}" srcId="{9EF72737-E10E-4FB1-AE89-7F5A7D1A8DFC}" destId="{F506ABCE-C9E7-4E08-8660-85FBE73CCCB9}" srcOrd="2" destOrd="0" parTransId="{E6DE6B13-2A6D-419A-A6D6-72DAA32360F7}" sibTransId="{6D223B01-77CF-49CF-A247-E2C03D374A1F}"/>
    <dgm:cxn modelId="{11E3B335-F08F-4D38-9886-F9FF9A319DF9}" srcId="{9EF72737-E10E-4FB1-AE89-7F5A7D1A8DFC}" destId="{CD46F90D-F4FE-4CA7-B74F-74B95E816D6D}" srcOrd="1" destOrd="0" parTransId="{D354D87D-A4AA-47A7-BD2B-BD36D25EB23B}" sibTransId="{E45DCA49-9F91-4020-8C5F-2A53B5A6662B}"/>
    <dgm:cxn modelId="{86C83572-D7EC-4810-8D29-FF245B038DEC}" srcId="{9EF72737-E10E-4FB1-AE89-7F5A7D1A8DFC}" destId="{0B5B0269-416E-41FA-A218-6446B3D8766A}" srcOrd="0" destOrd="0" parTransId="{CABE77FA-43D9-4A64-8CE2-5A7F49C11619}" sibTransId="{ECD7D0CA-4CF7-4CE9-9C8C-C389EE41B56E}"/>
    <dgm:cxn modelId="{25ECA5EF-D9D2-47D2-93EC-E160F06CDC6C}" type="presParOf" srcId="{AA0988CF-6FF1-4F22-8D50-BFF507240A55}" destId="{20A5B773-8BD5-47A2-8B44-154D52C041FC}" srcOrd="0" destOrd="0" presId="urn:microsoft.com/office/officeart/2005/8/layout/cycle6"/>
    <dgm:cxn modelId="{AFB82C6D-1E54-4779-AD30-3915A2D38CA3}" type="presParOf" srcId="{AA0988CF-6FF1-4F22-8D50-BFF507240A55}" destId="{D690BC3E-805C-494F-BDF9-C16CB554A271}" srcOrd="1" destOrd="0" presId="urn:microsoft.com/office/officeart/2005/8/layout/cycle6"/>
    <dgm:cxn modelId="{A1AC90EC-696D-4C56-9617-25A609512FD7}" type="presParOf" srcId="{AA0988CF-6FF1-4F22-8D50-BFF507240A55}" destId="{B4843129-9E18-4F64-B1C9-5DE11CF6DDAE}" srcOrd="2" destOrd="0" presId="urn:microsoft.com/office/officeart/2005/8/layout/cycle6"/>
    <dgm:cxn modelId="{CA5E6E68-A31E-480F-A046-8C750E63F7AB}" type="presParOf" srcId="{AA0988CF-6FF1-4F22-8D50-BFF507240A55}" destId="{D5694CFC-41D3-45CC-AD2D-D4A359B632BD}" srcOrd="3" destOrd="0" presId="urn:microsoft.com/office/officeart/2005/8/layout/cycle6"/>
    <dgm:cxn modelId="{A41B86C9-DBF9-481C-83E8-FFE60E5AB8F3}" type="presParOf" srcId="{AA0988CF-6FF1-4F22-8D50-BFF507240A55}" destId="{502B5E47-1E7E-49BD-AB15-8F50166B978E}" srcOrd="4" destOrd="0" presId="urn:microsoft.com/office/officeart/2005/8/layout/cycle6"/>
    <dgm:cxn modelId="{2557B5ED-A581-437E-ABEE-3F97FFF8ACEE}" type="presParOf" srcId="{AA0988CF-6FF1-4F22-8D50-BFF507240A55}" destId="{E2B56E6D-FBE7-4685-9244-2B25C7AFC801}" srcOrd="5" destOrd="0" presId="urn:microsoft.com/office/officeart/2005/8/layout/cycle6"/>
    <dgm:cxn modelId="{F0AF5647-D56B-46BA-BD19-5FF195EEA146}" type="presParOf" srcId="{AA0988CF-6FF1-4F22-8D50-BFF507240A55}" destId="{06F002A9-8554-40E4-AF83-C0F0D8A11B5E}" srcOrd="6" destOrd="0" presId="urn:microsoft.com/office/officeart/2005/8/layout/cycle6"/>
    <dgm:cxn modelId="{4EB5B995-3465-4F72-925F-EA2928C8386B}" type="presParOf" srcId="{AA0988CF-6FF1-4F22-8D50-BFF507240A55}" destId="{91E5E98C-C1A2-4D04-A209-FA59AC4C6A02}" srcOrd="7" destOrd="0" presId="urn:microsoft.com/office/officeart/2005/8/layout/cycle6"/>
    <dgm:cxn modelId="{C379763A-6985-4C98-B02C-A5D0205274EB}" type="presParOf" srcId="{AA0988CF-6FF1-4F22-8D50-BFF507240A55}" destId="{0482AC9E-A59A-48AB-A293-88A0D6015484}" srcOrd="8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A5B773-8BD5-47A2-8B44-154D52C041FC}">
      <dsp:nvSpPr>
        <dsp:cNvPr id="0" name=""/>
        <dsp:cNvSpPr/>
      </dsp:nvSpPr>
      <dsp:spPr>
        <a:xfrm>
          <a:off x="3589041" y="1299"/>
          <a:ext cx="1734141" cy="1127191"/>
        </a:xfrm>
        <a:prstGeom prst="roundRect">
          <a:avLst/>
        </a:prstGeom>
        <a:solidFill>
          <a:schemeClr val="accent1">
            <a:tint val="70000"/>
            <a:lumMod val="104000"/>
          </a:schemeClr>
        </a:solidFill>
        <a:ln w="9525" cap="rnd" cmpd="sng" algn="ctr">
          <a:solidFill>
            <a:schemeClr val="accent1">
              <a:shade val="90000"/>
            </a:schemeClr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HTML</a:t>
          </a:r>
          <a:endParaRPr lang="zh-TW" altLang="en-US" sz="19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44066" y="56324"/>
        <a:ext cx="1624091" cy="1017141"/>
      </dsp:txXfrm>
    </dsp:sp>
    <dsp:sp modelId="{B4843129-9E18-4F64-B1C9-5DE11CF6DDAE}">
      <dsp:nvSpPr>
        <dsp:cNvPr id="0" name=""/>
        <dsp:cNvSpPr/>
      </dsp:nvSpPr>
      <dsp:spPr>
        <a:xfrm>
          <a:off x="2954133" y="564895"/>
          <a:ext cx="3003958" cy="3003958"/>
        </a:xfrm>
        <a:custGeom>
          <a:avLst/>
          <a:gdLst/>
          <a:ahLst/>
          <a:cxnLst/>
          <a:rect l="0" t="0" r="0" b="0"/>
          <a:pathLst>
            <a:path>
              <a:moveTo>
                <a:pt x="2381619" y="284533"/>
              </a:moveTo>
              <a:arcTo wR="1501979" hR="1501979" stAng="18350954" swAng="3643711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694CFC-41D3-45CC-AD2D-D4A359B632BD}">
      <dsp:nvSpPr>
        <dsp:cNvPr id="0" name=""/>
        <dsp:cNvSpPr/>
      </dsp:nvSpPr>
      <dsp:spPr>
        <a:xfrm>
          <a:off x="4889793" y="2254268"/>
          <a:ext cx="1734141" cy="1127191"/>
        </a:xfrm>
        <a:prstGeom prst="roundRect">
          <a:avLst/>
        </a:prstGeom>
        <a:solidFill>
          <a:schemeClr val="accent2">
            <a:tint val="70000"/>
            <a:lumMod val="104000"/>
          </a:schemeClr>
        </a:solidFill>
        <a:ln w="9525" cap="rnd" cmpd="sng" algn="ctr">
          <a:solidFill>
            <a:schemeClr val="accent2">
              <a:shade val="90000"/>
            </a:schemeClr>
          </a:solidFill>
          <a:prstDash val="solid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CSS</a:t>
          </a:r>
          <a:endParaRPr lang="zh-TW" altLang="en-US" sz="19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944818" y="2309293"/>
        <a:ext cx="1624091" cy="1017141"/>
      </dsp:txXfrm>
    </dsp:sp>
    <dsp:sp modelId="{E2B56E6D-FBE7-4685-9244-2B25C7AFC801}">
      <dsp:nvSpPr>
        <dsp:cNvPr id="0" name=""/>
        <dsp:cNvSpPr/>
      </dsp:nvSpPr>
      <dsp:spPr>
        <a:xfrm>
          <a:off x="2954133" y="564895"/>
          <a:ext cx="3003958" cy="3003958"/>
        </a:xfrm>
        <a:custGeom>
          <a:avLst/>
          <a:gdLst/>
          <a:ahLst/>
          <a:cxnLst/>
          <a:rect l="0" t="0" r="0" b="0"/>
          <a:pathLst>
            <a:path>
              <a:moveTo>
                <a:pt x="2215730" y="2823531"/>
              </a:moveTo>
              <a:arcTo wR="1501979" hR="1501979" stAng="3697629" swAng="3404743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F002A9-8554-40E4-AF83-C0F0D8A11B5E}">
      <dsp:nvSpPr>
        <dsp:cNvPr id="0" name=""/>
        <dsp:cNvSpPr/>
      </dsp:nvSpPr>
      <dsp:spPr>
        <a:xfrm>
          <a:off x="2288289" y="2254268"/>
          <a:ext cx="1734141" cy="1127191"/>
        </a:xfrm>
        <a:prstGeom prst="roundRect">
          <a:avLst/>
        </a:prstGeom>
        <a:solidFill>
          <a:schemeClr val="accent3">
            <a:tint val="70000"/>
            <a:lumMod val="104000"/>
          </a:schemeClr>
        </a:solidFill>
        <a:ln w="9525" cap="rnd" cmpd="sng" algn="ctr">
          <a:solidFill>
            <a:schemeClr val="accent3">
              <a:shade val="90000"/>
            </a:schemeClr>
          </a:solidFill>
          <a:prstDash val="solid"/>
        </a:ln>
        <a:effectLst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JAVASCRIPT</a:t>
          </a:r>
          <a:endParaRPr lang="zh-TW" altLang="en-US" sz="19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43314" y="2309293"/>
        <a:ext cx="1624091" cy="1017141"/>
      </dsp:txXfrm>
    </dsp:sp>
    <dsp:sp modelId="{0482AC9E-A59A-48AB-A293-88A0D6015484}">
      <dsp:nvSpPr>
        <dsp:cNvPr id="0" name=""/>
        <dsp:cNvSpPr/>
      </dsp:nvSpPr>
      <dsp:spPr>
        <a:xfrm>
          <a:off x="2954133" y="564895"/>
          <a:ext cx="3003958" cy="3003958"/>
        </a:xfrm>
        <a:custGeom>
          <a:avLst/>
          <a:gdLst/>
          <a:ahLst/>
          <a:cxnLst/>
          <a:rect l="0" t="0" r="0" b="0"/>
          <a:pathLst>
            <a:path>
              <a:moveTo>
                <a:pt x="9887" y="1674033"/>
              </a:moveTo>
              <a:arcTo wR="1501979" hR="1501979" stAng="10405335" swAng="3643711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預留位置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73984DB4-3AA5-41F8-ABFF-441894870809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2020/10/6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D9F912AB-2776-42F2-A957-313FC7EFEDB9}" type="slidenum"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 algn="r" rtl="0"/>
              <a:t>‹#›</a:t>
            </a:fld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AAD605A-0A28-48D3-854F-4FDF8C1733EE}" type="datetime1">
              <a:rPr lang="zh-TW" altLang="en-US" smtClean="0"/>
              <a:pPr/>
              <a:t>2020/10/6</a:t>
            </a:fld>
            <a:endParaRPr lang="zh-TW" altLang="en-US" dirty="0"/>
          </a:p>
        </p:txBody>
      </p:sp>
      <p:sp>
        <p:nvSpPr>
          <p:cNvPr id="4" name="投影片圖像預留位置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93199CD-3E1B-4AE6-990F-76F925F5EA9F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0896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pPr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69499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pPr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52181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&lt;title&gt;</a:t>
            </a:r>
          </a:p>
          <a:p>
            <a:r>
              <a:rPr lang="zh-TW" altLang="en-US" dirty="0"/>
              <a:t>瀏覽器工具列標題</a:t>
            </a:r>
            <a:endParaRPr lang="en-US" altLang="zh-TW" dirty="0"/>
          </a:p>
          <a:p>
            <a:r>
              <a:rPr lang="zh-TW" altLang="en-US" dirty="0"/>
              <a:t>瀏覽器中我的最愛顯示名稱</a:t>
            </a:r>
            <a:endParaRPr lang="en-US" altLang="zh-TW" dirty="0"/>
          </a:p>
          <a:p>
            <a:r>
              <a:rPr lang="zh-TW" altLang="en-US" dirty="0"/>
              <a:t>搜尋引擎標題</a:t>
            </a:r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pPr/>
              <a:t>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24650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1" dirty="0"/>
              <a:t>&lt;meta name="keywords" content="HTML, CSS, JavaScript"&gt;</a:t>
            </a:r>
          </a:p>
          <a:p>
            <a:r>
              <a:rPr lang="en-US" altLang="zh-TW" sz="1200" b="1" dirty="0"/>
              <a:t>&lt;meta name=“description” content=“WEB</a:t>
            </a:r>
            <a:r>
              <a:rPr lang="zh-TW" altLang="en-US" sz="1200" b="1" dirty="0"/>
              <a:t>實戰</a:t>
            </a:r>
            <a:r>
              <a:rPr lang="en-US" altLang="zh-TW" sz="1200" b="1" dirty="0"/>
              <a:t>"&gt;</a:t>
            </a:r>
          </a:p>
          <a:p>
            <a:r>
              <a:rPr lang="en-US" altLang="zh-TW" sz="1200" b="1" dirty="0"/>
              <a:t>&lt;meta name=“author” content=“</a:t>
            </a:r>
            <a:r>
              <a:rPr lang="zh-TW" altLang="en-US" sz="1200" b="1" dirty="0"/>
              <a:t>龍晟科技</a:t>
            </a:r>
            <a:r>
              <a:rPr lang="en-US" altLang="zh-TW" sz="1200" b="1" dirty="0"/>
              <a:t>"&gt;</a:t>
            </a:r>
          </a:p>
          <a:p>
            <a:r>
              <a:rPr lang="en-US" altLang="zh-TW" sz="1200" b="1" dirty="0"/>
              <a:t>&lt;meta http-</a:t>
            </a:r>
            <a:r>
              <a:rPr lang="en-US" altLang="zh-TW" sz="1200" b="1" dirty="0" err="1"/>
              <a:t>equiv</a:t>
            </a:r>
            <a:r>
              <a:rPr lang="en-US" altLang="zh-TW" sz="1200" b="1" dirty="0"/>
              <a:t>="refresh" content="30"&gt;</a:t>
            </a:r>
          </a:p>
          <a:p>
            <a:r>
              <a:rPr lang="en-US" altLang="zh-TW" sz="1200" b="1" dirty="0"/>
              <a:t>&lt;meta name=“viewport” content=“width=device-width, initial-scale=1.0, maximum-scale=1,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 user-scalable=no</a:t>
            </a:r>
            <a:r>
              <a:rPr lang="en-US" altLang="zh-TW" sz="1200" b="1" dirty="0"/>
              <a:t>"&gt;</a:t>
            </a:r>
            <a:endParaRPr lang="zh-TW" altLang="en-US" sz="1200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pPr/>
              <a:t>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1520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pPr/>
              <a:t>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372530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&lt;!--[if IE]&gt; &lt;p&gt;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我是 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IE &lt;![</a:t>
            </a:r>
            <a:r>
              <a:rPr lang="en-US" altLang="zh-TW" sz="1200" b="1" i="0" kern="1200" dirty="0" err="1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endif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]--&gt;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&lt;!--[if IE 6]&gt; &lt;p&gt;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我是 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IE6 &lt;![</a:t>
            </a:r>
            <a:r>
              <a:rPr lang="en-US" altLang="zh-TW" sz="1200" b="1" i="0" kern="1200" dirty="0" err="1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endif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]--&gt;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&lt;!--[if !IE 7]&gt; &lt;p&gt;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我不是 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IE7 &lt;![</a:t>
            </a:r>
            <a:r>
              <a:rPr lang="en-US" altLang="zh-TW" sz="1200" b="1" i="0" kern="1200" dirty="0" err="1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endif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]--&gt;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&lt;!--[if </a:t>
            </a:r>
            <a:r>
              <a:rPr lang="en-US" altLang="zh-TW" sz="1200" b="1" i="0" kern="1200" dirty="0" err="1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lt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 IE 7]&gt; &lt;p&gt;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我是舊版本 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&lt;![</a:t>
            </a:r>
            <a:r>
              <a:rPr lang="en-US" altLang="zh-TW" sz="1200" b="1" i="0" kern="1200" dirty="0" err="1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endif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]--&gt;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pPr/>
              <a:t>12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92279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CSS</a:t>
            </a:r>
          </a:p>
          <a:p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text-decoration:none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;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pPr/>
              <a:t>15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39439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Sublime</a:t>
            </a:r>
            <a:endParaRPr lang="en-US" altLang="zh-TW" baseline="0" dirty="0"/>
          </a:p>
          <a:p>
            <a:r>
              <a:rPr lang="en-US" altLang="zh-TW" baseline="0" dirty="0" err="1"/>
              <a:t>Fakeimg</a:t>
            </a:r>
            <a:endParaRPr lang="en-US" altLang="zh-TW" baseline="0" dirty="0"/>
          </a:p>
          <a:p>
            <a:endParaRPr lang="en-US" altLang="zh-TW" baseline="0" dirty="0"/>
          </a:p>
          <a:p>
            <a:r>
              <a:rPr lang="zh-TW" altLang="en-US" baseline="0" dirty="0"/>
              <a:t>圖片超連結</a:t>
            </a:r>
            <a:endParaRPr lang="en-US" altLang="zh-TW" baseline="0" dirty="0"/>
          </a:p>
          <a:p>
            <a:endParaRPr lang="en-US" altLang="zh-TW" baseline="0" dirty="0"/>
          </a:p>
          <a:p>
            <a:r>
              <a:rPr lang="en-US" altLang="zh-TW" dirty="0"/>
              <a:t>&lt;</a:t>
            </a:r>
            <a:r>
              <a:rPr lang="en-US" altLang="zh-TW" dirty="0" err="1"/>
              <a:t>img</a:t>
            </a:r>
            <a:r>
              <a:rPr lang="en-US" altLang="zh-TW" dirty="0"/>
              <a:t> </a:t>
            </a:r>
            <a:r>
              <a:rPr lang="en-US" altLang="zh-TW" dirty="0" err="1"/>
              <a:t>src</a:t>
            </a:r>
            <a:r>
              <a:rPr lang="en-US" altLang="zh-TW" dirty="0"/>
              <a:t>="http://fakeimg.pl/350x200/00CED1/FFF/?text=</a:t>
            </a:r>
            <a:r>
              <a:rPr lang="en-US" altLang="zh-TW" dirty="0" err="1"/>
              <a:t>img+placeholder</a:t>
            </a:r>
            <a:r>
              <a:rPr lang="en-US" altLang="zh-TW" dirty="0"/>
              <a:t>" </a:t>
            </a:r>
            <a:r>
              <a:rPr lang="en-US" altLang="zh-TW" dirty="0" err="1"/>
              <a:t>usemap</a:t>
            </a:r>
            <a:r>
              <a:rPr lang="en-US" altLang="zh-TW" dirty="0"/>
              <a:t>="#</a:t>
            </a:r>
            <a:r>
              <a:rPr lang="en-US" altLang="zh-TW" dirty="0" err="1"/>
              <a:t>planetmap</a:t>
            </a:r>
            <a:r>
              <a:rPr lang="en-US" altLang="zh-TW" dirty="0"/>
              <a:t>" style="width:145px;height:126px;"&gt;</a:t>
            </a:r>
          </a:p>
          <a:p>
            <a:endParaRPr lang="en-US" altLang="zh-TW" dirty="0"/>
          </a:p>
          <a:p>
            <a:r>
              <a:rPr lang="en-US" altLang="zh-TW" dirty="0"/>
              <a:t>&lt;map name="</a:t>
            </a:r>
            <a:r>
              <a:rPr lang="en-US" altLang="zh-TW" dirty="0" err="1"/>
              <a:t>planetmap</a:t>
            </a:r>
            <a:r>
              <a:rPr lang="en-US" altLang="zh-TW" dirty="0"/>
              <a:t>"&gt;</a:t>
            </a:r>
          </a:p>
          <a:p>
            <a:r>
              <a:rPr lang="en-US" altLang="zh-TW" dirty="0"/>
              <a:t>      &lt;area shape="</a:t>
            </a:r>
            <a:r>
              <a:rPr lang="en-US" altLang="zh-TW" dirty="0" err="1"/>
              <a:t>rect</a:t>
            </a:r>
            <a:r>
              <a:rPr lang="en-US" altLang="zh-TW" dirty="0"/>
              <a:t>" </a:t>
            </a:r>
            <a:r>
              <a:rPr lang="en-US" altLang="zh-TW" dirty="0" err="1"/>
              <a:t>coords</a:t>
            </a:r>
            <a:r>
              <a:rPr lang="en-US" altLang="zh-TW" dirty="0"/>
              <a:t>="0,0,82,126" alt="Sun" </a:t>
            </a:r>
            <a:r>
              <a:rPr lang="en-US" altLang="zh-TW" dirty="0" err="1"/>
              <a:t>href</a:t>
            </a:r>
            <a:r>
              <a:rPr lang="en-US" altLang="zh-TW" dirty="0"/>
              <a:t>="sun.htm"&gt;</a:t>
            </a:r>
          </a:p>
          <a:p>
            <a:r>
              <a:rPr lang="en-US" altLang="zh-TW" dirty="0"/>
              <a:t>&lt;/map&gt;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pPr/>
              <a:t>16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69451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colspan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  <a:p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Rowspan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  <a:p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tr:nth-child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(even) </a:t>
            </a:r>
          </a:p>
          <a:p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tr:nth-child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t>(odd) 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pPr/>
              <a:t>17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88751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多階層列表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水平選單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pPr/>
              <a:t>18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941533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CSS</a:t>
            </a:r>
            <a:r>
              <a:rPr lang="zh-TW" altLang="en-US" dirty="0"/>
              <a:t>設置</a:t>
            </a:r>
            <a:r>
              <a:rPr lang="en-US" altLang="zh-TW" dirty="0"/>
              <a:t>display</a:t>
            </a:r>
            <a:r>
              <a:rPr lang="zh-TW" altLang="en-US" dirty="0"/>
              <a:t>改變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pPr/>
              <a:t>19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33161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不間段空白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altLang="zh-TW" smtClean="0"/>
              <a:pPr/>
              <a:t>20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0048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8539" y="2514601"/>
            <a:ext cx="8913077" cy="2262781"/>
          </a:xfrm>
        </p:spPr>
        <p:txBody>
          <a:bodyPr anchor="b">
            <a:normAutofit/>
          </a:bodyPr>
          <a:lstStyle>
            <a:lvl1pPr>
              <a:defRPr sz="5398" b="1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8539" y="4777380"/>
            <a:ext cx="8913077" cy="1126283"/>
          </a:xfrm>
        </p:spPr>
        <p:txBody>
          <a:bodyPr anchor="t"/>
          <a:lstStyle>
            <a:lvl1pPr marL="0" indent="0" algn="l">
              <a:buNone/>
              <a:defRPr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1"/>
            <a:ext cx="1744198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4529541"/>
            <a:ext cx="779564" cy="365125"/>
          </a:xfrm>
        </p:spPr>
        <p:txBody>
          <a:bodyPr/>
          <a:lstStyle>
            <a:lvl1pPr>
              <a:defRPr b="1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813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7988" y="260648"/>
            <a:ext cx="8909366" cy="1280890"/>
          </a:xfrm>
        </p:spPr>
        <p:txBody>
          <a:bodyPr anchor="ctr">
            <a:normAutofit/>
          </a:bodyPr>
          <a:lstStyle>
            <a:lvl1pPr algn="ctr">
              <a:defRPr sz="4000" b="1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3892" y="1772816"/>
            <a:ext cx="8913078" cy="3777622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sz="2400" b="1" baseline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>
              <a:lnSpc>
                <a:spcPct val="125000"/>
              </a:lnSpc>
              <a:defRPr sz="2400" b="1" baseline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2pPr>
            <a:lvl3pPr>
              <a:lnSpc>
                <a:spcPct val="125000"/>
              </a:lnSpc>
              <a:defRPr sz="2400" b="1" baseline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3pPr>
            <a:lvl4pPr>
              <a:lnSpc>
                <a:spcPct val="125000"/>
              </a:lnSpc>
              <a:defRPr sz="2400" b="1" baseline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4pPr>
            <a:lvl5pPr>
              <a:lnSpc>
                <a:spcPct val="125000"/>
              </a:lnSpc>
              <a:defRPr sz="2400" b="1" baseline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7471-0EFB-450C-BF3A-5619C283DFC0}" type="datetime1">
              <a:rPr lang="zh-TW" altLang="en-US" smtClean="0"/>
              <a:t>2020/10/6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8538" y="6453336"/>
            <a:ext cx="7618015" cy="365125"/>
          </a:xfrm>
        </p:spPr>
        <p:txBody>
          <a:bodyPr/>
          <a:lstStyle>
            <a:lvl1pPr algn="ctr">
              <a:defRPr sz="1200" b="1">
                <a:solidFill>
                  <a:schemeClr val="tx1">
                    <a:lumMod val="85000"/>
                    <a:lumOff val="1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龍晟科技有限公司</a:t>
            </a:r>
            <a:endParaRPr lang="zh-TW" alt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2A013F82-EE5E-44EE-A61D-E31C6657F26F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58770109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2058750"/>
            <a:ext cx="8913077" cy="1468800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3530129"/>
            <a:ext cx="8913077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493A-B6F2-4CA3-909C-F61F3C980F91}" type="datetime1">
              <a:rPr lang="zh-TW" altLang="en-US" smtClean="0"/>
              <a:t>2020/10/6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31781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3244140"/>
            <a:ext cx="779564" cy="365125"/>
          </a:xfrm>
        </p:spPr>
        <p:txBody>
          <a:bodyPr/>
          <a:lstStyle/>
          <a:p>
            <a:pPr rtl="0"/>
            <a:fld id="{2A013F82-EE5E-44EE-A61D-E31C6657F26F}" type="slidenum">
              <a:rPr lang="en-US" altLang="zh-TW" noProof="0" smtClean="0"/>
              <a:t>‹#›</a:t>
            </a:fld>
            <a:endParaRPr lang="en-US" altLang="zh-TW" noProof="0" dirty="0"/>
          </a:p>
        </p:txBody>
      </p:sp>
    </p:spTree>
    <p:extLst>
      <p:ext uri="{BB962C8B-B14F-4D97-AF65-F5344CB8AC3E}">
        <p14:creationId xmlns:p14="http://schemas.microsoft.com/office/powerpoint/2010/main" val="2559147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8538" y="2133600"/>
            <a:ext cx="4312741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88874" y="2126222"/>
            <a:ext cx="4312741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7471-0EFB-450C-BF3A-5619C283DFC0}" type="datetime1">
              <a:rPr lang="zh-TW" altLang="en-US" smtClean="0"/>
              <a:t>2020/10/6</a:t>
            </a:fld>
            <a:endParaRPr lang="zh-TW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787783"/>
            <a:ext cx="779564" cy="365125"/>
          </a:xfrm>
        </p:spPr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22648734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8608" y="1972703"/>
            <a:ext cx="399169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8538" y="2548966"/>
            <a:ext cx="4341762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4674" y="1969475"/>
            <a:ext cx="3997960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5091" y="2545738"/>
            <a:ext cx="433754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7471-0EFB-450C-BF3A-5619C283DFC0}" type="datetime1">
              <a:rPr lang="zh-TW" altLang="en-US" smtClean="0"/>
              <a:t>2020/10/6</a:t>
            </a:fld>
            <a:endParaRPr lang="zh-TW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787783"/>
            <a:ext cx="779564" cy="365125"/>
          </a:xfrm>
        </p:spPr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24645242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0B50E-09ED-4C6F-A143-85B672AA52B3}" type="datetime1">
              <a:rPr lang="zh-TW" altLang="en-US" smtClean="0"/>
              <a:t>2020/10/6</a:t>
            </a:fld>
            <a:endParaRPr lang="zh-TW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龍晟科技有限公司</a:t>
            </a:r>
            <a:endParaRPr lang="zh-TW" alt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096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DE9FF-0FF1-474A-A0C2-D97FBDA3F48D}" type="datetime1">
              <a:rPr lang="zh-TW" altLang="en-US" smtClean="0"/>
              <a:t>2020/10/6</a:t>
            </a:fld>
            <a:endParaRPr lang="zh-TW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A013F82-EE5E-44EE-A61D-E31C6657F26F}" type="slidenum">
              <a:rPr lang="en-US" altLang="zh-TW" noProof="0" smtClean="0"/>
              <a:t>‹#›</a:t>
            </a:fld>
            <a:endParaRPr lang="en-US" altLang="zh-TW" noProof="0" dirty="0"/>
          </a:p>
        </p:txBody>
      </p:sp>
    </p:spTree>
    <p:extLst>
      <p:ext uri="{BB962C8B-B14F-4D97-AF65-F5344CB8AC3E}">
        <p14:creationId xmlns:p14="http://schemas.microsoft.com/office/powerpoint/2010/main" val="163097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446088"/>
            <a:ext cx="3504286" cy="976312"/>
          </a:xfrm>
        </p:spPr>
        <p:txBody>
          <a:bodyPr anchor="b"/>
          <a:lstStyle>
            <a:lvl1pPr algn="l">
              <a:defRPr sz="1999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1365" y="446089"/>
            <a:ext cx="5180251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8" y="1598613"/>
            <a:ext cx="3504286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82E69-9B1B-4D02-B73B-642F7687CB13}" type="datetime1">
              <a:rPr lang="zh-TW" altLang="en-US" smtClean="0"/>
              <a:t>2020/10/6</a:t>
            </a:fld>
            <a:endParaRPr lang="zh-TW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A013F82-EE5E-44EE-A61D-E31C6657F26F}" type="slidenum">
              <a:rPr lang="en-US" altLang="zh-TW" noProof="0" smtClean="0"/>
              <a:t>‹#›</a:t>
            </a:fld>
            <a:endParaRPr lang="en-US" altLang="zh-TW" noProof="0" dirty="0"/>
          </a:p>
        </p:txBody>
      </p:sp>
    </p:spTree>
    <p:extLst>
      <p:ext uri="{BB962C8B-B14F-4D97-AF65-F5344CB8AC3E}">
        <p14:creationId xmlns:p14="http://schemas.microsoft.com/office/powerpoint/2010/main" val="2058101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9" y="4800600"/>
            <a:ext cx="891307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8538" y="634965"/>
            <a:ext cx="8913078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367338"/>
            <a:ext cx="891307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FA7E-3831-42C0-AC98-31478A1F1F88}" type="datetime1">
              <a:rPr lang="zh-TW" altLang="en-US" smtClean="0"/>
              <a:t>2020/10/6</a:t>
            </a:fld>
            <a:endParaRPr lang="zh-TW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龍晟科技有限公司</a:t>
            </a:r>
            <a:endParaRPr lang="zh-TW" alt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2A013F82-EE5E-44EE-A61D-E31C6657F26F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749148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609600"/>
            <a:ext cx="8913077" cy="3117040"/>
          </a:xfrm>
        </p:spPr>
        <p:txBody>
          <a:bodyPr anchor="ctr">
            <a:normAutofit/>
          </a:bodyPr>
          <a:lstStyle>
            <a:lvl1pPr algn="l">
              <a:defRPr sz="4799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4354046"/>
            <a:ext cx="8913077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7471-0EFB-450C-BF3A-5619C283DFC0}" type="datetime1">
              <a:rPr lang="zh-TW" altLang="en-US" smtClean="0"/>
              <a:t>2020/10/6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31781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3244140"/>
            <a:ext cx="779564" cy="365125"/>
          </a:xfrm>
        </p:spPr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5663497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207" y="609600"/>
            <a:ext cx="8391740" cy="2895600"/>
          </a:xfrm>
        </p:spPr>
        <p:txBody>
          <a:bodyPr anchor="ctr">
            <a:normAutofit/>
          </a:bodyPr>
          <a:lstStyle>
            <a:lvl1pPr algn="l">
              <a:defRPr sz="4799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4159" y="3505200"/>
            <a:ext cx="7534591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4354046"/>
            <a:ext cx="8913077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7471-0EFB-450C-BF3A-5619C283DFC0}" type="datetime1">
              <a:rPr lang="zh-TW" altLang="en-US" smtClean="0"/>
              <a:t>2020/10/6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7" y="31781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3244140"/>
            <a:ext cx="779564" cy="365125"/>
          </a:xfrm>
        </p:spPr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2467010" y="648005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1958" y="290530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761042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9" y="2438401"/>
            <a:ext cx="8913078" cy="2724845"/>
          </a:xfrm>
        </p:spPr>
        <p:txBody>
          <a:bodyPr anchor="b">
            <a:normAutofit/>
          </a:bodyPr>
          <a:lstStyle>
            <a:lvl1pPr algn="l">
              <a:defRPr sz="4799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181600"/>
            <a:ext cx="8913078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7471-0EFB-450C-BF3A-5619C283DFC0}" type="datetime1">
              <a:rPr lang="zh-TW" altLang="en-US" smtClean="0"/>
              <a:t>2020/10/6</a:t>
            </a:fld>
            <a:endParaRPr lang="zh-TW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5314866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207" y="609600"/>
            <a:ext cx="8391740" cy="2895600"/>
          </a:xfrm>
        </p:spPr>
        <p:txBody>
          <a:bodyPr anchor="ctr">
            <a:normAutofit/>
          </a:bodyPr>
          <a:lstStyle>
            <a:lvl1pPr algn="l">
              <a:defRPr sz="4799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8538" y="4343400"/>
            <a:ext cx="8913078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181600"/>
            <a:ext cx="8913078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7471-0EFB-450C-BF3A-5619C283DFC0}" type="datetime1">
              <a:rPr lang="zh-TW" altLang="en-US" smtClean="0"/>
              <a:t>2020/10/6</a:t>
            </a:fld>
            <a:endParaRPr lang="zh-TW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467010" y="648005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1958" y="290530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5935782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627407"/>
            <a:ext cx="8913077" cy="2880020"/>
          </a:xfrm>
        </p:spPr>
        <p:txBody>
          <a:bodyPr anchor="ctr">
            <a:normAutofit/>
          </a:bodyPr>
          <a:lstStyle>
            <a:lvl1pPr algn="l">
              <a:defRPr sz="4799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8538" y="4343400"/>
            <a:ext cx="8913078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181600"/>
            <a:ext cx="8913078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7471-0EFB-450C-BF3A-5619C283DFC0}" type="datetime1">
              <a:rPr lang="zh-TW" altLang="en-US" smtClean="0"/>
              <a:t>2020/10/6</a:t>
            </a:fld>
            <a:endParaRPr lang="zh-TW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16847331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1432E-035A-4AA1-86F4-8E96A9AB931B}" type="datetime1">
              <a:rPr lang="zh-TW" altLang="en-US" smtClean="0"/>
              <a:t>2020/10/6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A013F82-EE5E-44EE-A61D-E31C6657F26F}" type="slidenum">
              <a:rPr lang="en-US" altLang="zh-TW" noProof="0" smtClean="0"/>
              <a:t>‹#›</a:t>
            </a:fld>
            <a:endParaRPr lang="en-US" altLang="zh-TW" noProof="0" dirty="0"/>
          </a:p>
        </p:txBody>
      </p:sp>
    </p:spTree>
    <p:extLst>
      <p:ext uri="{BB962C8B-B14F-4D97-AF65-F5344CB8AC3E}">
        <p14:creationId xmlns:p14="http://schemas.microsoft.com/office/powerpoint/2010/main" val="114947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2392" y="627406"/>
            <a:ext cx="2207026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8538" y="627406"/>
            <a:ext cx="6475313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5A4EA-E53E-471D-B21C-7076C50EE120}" type="datetime1">
              <a:rPr lang="zh-TW" altLang="en-US" smtClean="0"/>
              <a:t>2020/10/6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402046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0773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14" y="157"/>
            <a:ext cx="2356060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32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249" y="624110"/>
            <a:ext cx="8909366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2133600"/>
            <a:ext cx="8913078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58914" y="6130437"/>
            <a:ext cx="1145984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27471-0EFB-450C-BF3A-5619C283DFC0}" type="datetime1">
              <a:rPr lang="zh-TW" altLang="en-US" smtClean="0"/>
              <a:t>2020/10/6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8538" y="6135809"/>
            <a:ext cx="76180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674" y="787783"/>
            <a:ext cx="77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99">
                <a:solidFill>
                  <a:srgbClr val="FEFFFF"/>
                </a:solidFill>
              </a:defRPr>
            </a:lvl1pPr>
          </a:lstStyle>
          <a:p>
            <a:fld id="{2A013F82-EE5E-44EE-A61D-E31C6657F26F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8676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/>
          <p:cNvSpPr txBox="1">
            <a:spLocks/>
          </p:cNvSpPr>
          <p:nvPr/>
        </p:nvSpPr>
        <p:spPr bwMode="auto">
          <a:xfrm>
            <a:off x="1860550" y="1598861"/>
            <a:ext cx="8913813" cy="226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455613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7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1pPr>
            <a:lvl2pPr marL="741363" indent="-284163" defTabSz="455613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2pPr>
            <a:lvl3pPr marL="1141413" indent="-227013" defTabSz="455613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3pPr>
            <a:lvl4pPr marL="1598613" indent="-227013" defTabSz="455613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4pPr>
            <a:lvl5pPr marL="2055813" indent="-227013" defTabSz="455613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5pPr>
            <a:lvl6pPr marL="2513013" indent="-227013" defTabSz="4556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6pPr>
            <a:lvl7pPr marL="2970213" indent="-227013" defTabSz="4556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7pPr>
            <a:lvl8pPr marL="3427413" indent="-227013" defTabSz="4556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8pPr>
            <a:lvl9pPr marL="3884613" indent="-227013" defTabSz="4556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5500" b="1" dirty="0" smtClean="0">
                <a:solidFill>
                  <a:srgbClr val="178DB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endParaRPr lang="zh-TW" altLang="en-US" sz="4800" b="1" dirty="0">
              <a:solidFill>
                <a:srgbClr val="178DBB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ea typeface="華康儷粗圓外字集" panose="020F0709000000000000" pitchFamily="49" charset="-120"/>
                <a:cs typeface="Times New Roman" panose="02020603050405020304" pitchFamily="18" charset="0"/>
              </a:rPr>
              <a:t>HTML</a:t>
            </a:r>
            <a:endParaRPr lang="zh-TW" altLang="en-US" b="1" dirty="0">
              <a:latin typeface="Times New Roman" panose="02020603050405020304" pitchFamily="18" charset="0"/>
              <a:ea typeface="華康儷粗圓外字集" panose="020F0709000000000000" pitchFamily="49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41884" y="1556792"/>
            <a:ext cx="10369152" cy="5040560"/>
          </a:xfrm>
        </p:spPr>
        <p:txBody>
          <a:bodyPr>
            <a:noAutofit/>
          </a:bodyPr>
          <a:lstStyle/>
          <a:p>
            <a:r>
              <a:rPr lang="en-US" altLang="zh-TW" b="1" dirty="0"/>
              <a:t>HTML</a:t>
            </a:r>
            <a:r>
              <a:rPr lang="zh-TW" altLang="en-US" b="1" dirty="0"/>
              <a:t> </a:t>
            </a:r>
            <a:r>
              <a:rPr lang="en-US" altLang="zh-TW" b="1" dirty="0"/>
              <a:t>(</a:t>
            </a:r>
            <a:r>
              <a:rPr lang="en-US" altLang="zh-TW" b="1" dirty="0" err="1"/>
              <a:t>HyperText</a:t>
            </a:r>
            <a:r>
              <a:rPr lang="en-US" altLang="zh-TW" b="1" dirty="0"/>
              <a:t> Markup Language)</a:t>
            </a:r>
            <a:r>
              <a:rPr lang="zh-TW" altLang="en-US" b="1" dirty="0"/>
              <a:t> 超文件標示語言</a:t>
            </a:r>
            <a:endParaRPr lang="en-US" altLang="zh-TW" b="1" dirty="0"/>
          </a:p>
          <a:p>
            <a:r>
              <a:rPr lang="zh-TW" altLang="en-US" b="1" dirty="0"/>
              <a:t>執行環境</a:t>
            </a:r>
            <a:r>
              <a:rPr lang="en-US" altLang="zh-TW" b="1" dirty="0">
                <a:sym typeface="Wingdings" panose="05000000000000000000" pitchFamily="2" charset="2"/>
              </a:rPr>
              <a:t>:</a:t>
            </a:r>
            <a:r>
              <a:rPr lang="en-US" altLang="zh-TW" b="1" dirty="0"/>
              <a:t>Browser (chrome</a:t>
            </a:r>
            <a:r>
              <a:rPr lang="zh-TW" altLang="en-US" b="1" dirty="0"/>
              <a:t>、</a:t>
            </a:r>
            <a:r>
              <a:rPr lang="en-US" altLang="zh-TW" b="1" dirty="0"/>
              <a:t>Internet Explorer</a:t>
            </a:r>
            <a:r>
              <a:rPr lang="zh-TW" altLang="en-US" b="1" dirty="0"/>
              <a:t>、</a:t>
            </a:r>
            <a:r>
              <a:rPr lang="en-US" altLang="zh-TW" b="1" dirty="0"/>
              <a:t>Firefox</a:t>
            </a:r>
            <a:r>
              <a:rPr lang="zh-TW" altLang="en-US" b="1" dirty="0"/>
              <a:t>、</a:t>
            </a:r>
            <a:r>
              <a:rPr lang="en-US" altLang="zh-TW" b="1" dirty="0"/>
              <a:t>Safari)</a:t>
            </a:r>
          </a:p>
          <a:p>
            <a:r>
              <a:rPr lang="en-US" altLang="zh-TW" b="1" dirty="0"/>
              <a:t>HTML</a:t>
            </a:r>
            <a:r>
              <a:rPr lang="zh-TW" altLang="en-US" b="1" dirty="0"/>
              <a:t>標籤 </a:t>
            </a:r>
            <a:r>
              <a:rPr lang="en-US" altLang="zh-TW" b="1" dirty="0"/>
              <a:t>(HTML tag)</a:t>
            </a:r>
          </a:p>
          <a:p>
            <a:pPr lvl="1"/>
            <a:r>
              <a:rPr lang="zh-TW" altLang="en-US" b="1" dirty="0"/>
              <a:t>標籤語言</a:t>
            </a:r>
            <a:r>
              <a:rPr lang="en-US" altLang="zh-TW" b="1" dirty="0"/>
              <a:t>&lt;</a:t>
            </a:r>
            <a:r>
              <a:rPr lang="zh-TW" altLang="en-US" b="1" dirty="0"/>
              <a:t>關鍵字</a:t>
            </a:r>
            <a:r>
              <a:rPr lang="en-US" altLang="zh-TW" b="1" dirty="0"/>
              <a:t>&gt;</a:t>
            </a:r>
            <a:r>
              <a:rPr lang="zh-TW" altLang="en-US" b="1" dirty="0"/>
              <a:t> </a:t>
            </a:r>
            <a:r>
              <a:rPr lang="en-US" altLang="zh-TW" b="1" dirty="0"/>
              <a:t>ex: &lt;html&gt;</a:t>
            </a:r>
          </a:p>
          <a:p>
            <a:pPr lvl="1"/>
            <a:r>
              <a:rPr lang="zh-TW" altLang="en-US" b="1" dirty="0"/>
              <a:t>成對出現 </a:t>
            </a:r>
            <a:r>
              <a:rPr lang="en-US" altLang="zh-TW" b="1" dirty="0"/>
              <a:t>ex: &lt;head&gt;</a:t>
            </a:r>
            <a:r>
              <a:rPr lang="zh-TW" altLang="en-US" b="1" dirty="0"/>
              <a:t>、</a:t>
            </a:r>
            <a:r>
              <a:rPr lang="en-US" altLang="zh-TW" b="1" dirty="0"/>
              <a:t>&lt;/head&gt;</a:t>
            </a:r>
          </a:p>
          <a:p>
            <a:pPr lvl="1"/>
            <a:r>
              <a:rPr lang="zh-TW" altLang="en-US" b="1" dirty="0"/>
              <a:t>有例外 </a:t>
            </a:r>
            <a:r>
              <a:rPr lang="en-US" altLang="zh-TW" b="1" dirty="0"/>
              <a:t>ex: &lt;</a:t>
            </a:r>
            <a:r>
              <a:rPr lang="en-US" altLang="zh-TW" b="1" dirty="0" err="1"/>
              <a:t>br</a:t>
            </a:r>
            <a:r>
              <a:rPr lang="en-US" altLang="zh-TW" b="1" dirty="0"/>
              <a:t> /&gt;</a:t>
            </a:r>
            <a:r>
              <a:rPr lang="zh-TW" altLang="en-US" b="1" dirty="0"/>
              <a:t>、</a:t>
            </a:r>
            <a:r>
              <a:rPr lang="en-US" altLang="zh-TW" b="1" dirty="0"/>
              <a:t>&lt;</a:t>
            </a:r>
            <a:r>
              <a:rPr lang="en-US" altLang="zh-TW" b="1" dirty="0" err="1"/>
              <a:t>img</a:t>
            </a:r>
            <a:r>
              <a:rPr lang="en-US" altLang="zh-TW" b="1" dirty="0"/>
              <a:t> /&gt;</a:t>
            </a:r>
          </a:p>
          <a:p>
            <a:pPr lvl="1"/>
            <a:r>
              <a:rPr lang="zh-TW" altLang="en-US" b="1" dirty="0"/>
              <a:t>不區分大小寫 </a:t>
            </a:r>
            <a:r>
              <a:rPr lang="en-US" altLang="zh-TW" b="1" dirty="0"/>
              <a:t>ex:&lt;P&gt;=&lt;p&gt; (W3C</a:t>
            </a:r>
            <a:r>
              <a:rPr lang="zh-TW" altLang="en-US" b="1" dirty="0"/>
              <a:t>建議小寫</a:t>
            </a:r>
            <a:r>
              <a:rPr lang="en-US" altLang="zh-TW" b="1" dirty="0"/>
              <a:t>)</a:t>
            </a:r>
          </a:p>
          <a:p>
            <a:r>
              <a:rPr lang="zh-TW" altLang="en-US" b="1" dirty="0"/>
              <a:t>副檔名</a:t>
            </a:r>
            <a:r>
              <a:rPr lang="en-US" altLang="zh-TW" b="1" dirty="0"/>
              <a:t>:</a:t>
            </a:r>
            <a:r>
              <a:rPr lang="zh-TW" altLang="en-US" b="1" dirty="0"/>
              <a:t> </a:t>
            </a:r>
            <a:r>
              <a:rPr lang="en-US" altLang="zh-TW" b="1" dirty="0" err="1"/>
              <a:t>htm</a:t>
            </a:r>
            <a:r>
              <a:rPr lang="zh-TW" altLang="en-US" b="1" dirty="0"/>
              <a:t>、</a:t>
            </a:r>
            <a:r>
              <a:rPr lang="en-US" altLang="zh-TW" b="1" dirty="0"/>
              <a:t>html</a:t>
            </a:r>
            <a:r>
              <a:rPr lang="zh-TW" altLang="en-US" b="1" dirty="0"/>
              <a:t> </a:t>
            </a:r>
            <a:r>
              <a:rPr lang="en-US" altLang="zh-TW" b="1" dirty="0"/>
              <a:t>(</a:t>
            </a:r>
            <a:r>
              <a:rPr lang="zh-TW" altLang="en-US" b="1" dirty="0"/>
              <a:t>默認首頁</a:t>
            </a:r>
            <a:r>
              <a:rPr lang="en-US" altLang="zh-TW" b="1" dirty="0"/>
              <a:t>index.html)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1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281391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TW" altLang="en-US" b="1" dirty="0"/>
              <a:t>版本</a:t>
            </a: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2853295"/>
              </p:ext>
            </p:extLst>
          </p:nvPr>
        </p:nvGraphicFramePr>
        <p:xfrm>
          <a:off x="1341884" y="1556792"/>
          <a:ext cx="10225136" cy="390144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51125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1125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HTML</a:t>
                      </a:r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版本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發布時間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</a:t>
                      </a:r>
                    </a:p>
                  </a:txBody>
                  <a:tcPr marL="46466" marR="46466" marT="66675" marB="66675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1991</a:t>
                      </a:r>
                    </a:p>
                  </a:txBody>
                  <a:tcPr marL="46466" marR="46466" marT="66675" marB="66675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HTML+</a:t>
                      </a:r>
                    </a:p>
                  </a:txBody>
                  <a:tcPr marL="46466" marR="46466" marT="66675" marB="6667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1993</a:t>
                      </a:r>
                    </a:p>
                  </a:txBody>
                  <a:tcPr marL="46466" marR="46466" marT="66675" marB="6667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67620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 2.0</a:t>
                      </a:r>
                    </a:p>
                  </a:txBody>
                  <a:tcPr marL="46466" marR="46466" marT="66675" marB="6667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1995</a:t>
                      </a:r>
                    </a:p>
                  </a:txBody>
                  <a:tcPr marL="46466" marR="46466" marT="66675" marB="6667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61518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 3.2</a:t>
                      </a:r>
                    </a:p>
                  </a:txBody>
                  <a:tcPr marL="46466" marR="46466" marT="66675" marB="6667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1997</a:t>
                      </a:r>
                    </a:p>
                  </a:txBody>
                  <a:tcPr marL="46466" marR="46466" marT="66675" marB="6667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 4.01</a:t>
                      </a:r>
                    </a:p>
                  </a:txBody>
                  <a:tcPr marL="46466" marR="46466" marT="66675" marB="6667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1999</a:t>
                      </a:r>
                    </a:p>
                  </a:txBody>
                  <a:tcPr marL="46466" marR="46466" marT="66675" marB="6667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XHTML 1.0</a:t>
                      </a:r>
                    </a:p>
                  </a:txBody>
                  <a:tcPr marL="46466" marR="46466" marT="66675" marB="6667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</a:p>
                  </a:txBody>
                  <a:tcPr marL="46466" marR="46466" marT="66675" marB="6667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HTML5</a:t>
                      </a:r>
                    </a:p>
                  </a:txBody>
                  <a:tcPr marL="46466" marR="46466" marT="66675" marB="6667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2012</a:t>
                      </a:r>
                    </a:p>
                  </a:txBody>
                  <a:tcPr marL="46466" marR="46466" marT="66675" marB="6667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XHTML5</a:t>
                      </a:r>
                    </a:p>
                  </a:txBody>
                  <a:tcPr marL="46466" marR="46466" marT="66675" marB="6667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2013</a:t>
                      </a:r>
                    </a:p>
                  </a:txBody>
                  <a:tcPr marL="46466" marR="46466" marT="66675" marB="6667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2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15912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構成網頁三大元素</a:t>
            </a: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2829619"/>
              </p:ext>
            </p:extLst>
          </p:nvPr>
        </p:nvGraphicFramePr>
        <p:xfrm>
          <a:off x="2589213" y="2133600"/>
          <a:ext cx="8912225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3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53034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TW" altLang="en-US" b="1" dirty="0"/>
              <a:t>四大區塊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13892" y="1700808"/>
            <a:ext cx="8913078" cy="3777622"/>
          </a:xfrm>
        </p:spPr>
        <p:txBody>
          <a:bodyPr/>
          <a:lstStyle/>
          <a:p>
            <a:r>
              <a:rPr lang="en-US" altLang="zh-TW" b="1" dirty="0"/>
              <a:t>&lt;!DOCTYPE html&gt;</a:t>
            </a:r>
          </a:p>
          <a:p>
            <a:r>
              <a:rPr lang="en-US" altLang="zh-TW" b="1" dirty="0"/>
              <a:t>&lt;html&gt;</a:t>
            </a:r>
          </a:p>
          <a:p>
            <a:r>
              <a:rPr lang="en-US" altLang="zh-TW" b="1" dirty="0"/>
              <a:t>&lt;head&gt;</a:t>
            </a:r>
          </a:p>
          <a:p>
            <a:r>
              <a:rPr lang="en-US" altLang="zh-TW" b="1" dirty="0"/>
              <a:t>&lt;body&gt;</a:t>
            </a:r>
            <a:endParaRPr lang="zh-TW" altLang="en-US" b="1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4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8624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TW" altLang="en-US" b="1" dirty="0"/>
              <a:t>元素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41884" y="1556792"/>
            <a:ext cx="10081120" cy="3960440"/>
          </a:xfrm>
        </p:spPr>
        <p:txBody>
          <a:bodyPr/>
          <a:lstStyle/>
          <a:p>
            <a:r>
              <a:rPr lang="en-US" altLang="zh-TW" b="1" dirty="0"/>
              <a:t>&lt;</a:t>
            </a:r>
            <a:r>
              <a:rPr lang="zh-TW" altLang="en-US" b="1" dirty="0"/>
              <a:t>標籤 屬性</a:t>
            </a:r>
            <a:r>
              <a:rPr lang="en-US" altLang="zh-TW" b="1" dirty="0"/>
              <a:t>=”</a:t>
            </a:r>
            <a:r>
              <a:rPr lang="zh-TW" altLang="en-US" b="1" dirty="0"/>
              <a:t>參數</a:t>
            </a:r>
            <a:r>
              <a:rPr lang="en-US" altLang="zh-TW" b="1" dirty="0"/>
              <a:t>”&gt;</a:t>
            </a:r>
            <a:r>
              <a:rPr lang="zh-TW" altLang="en-US" b="1" dirty="0"/>
              <a:t>顯示內容</a:t>
            </a:r>
            <a:r>
              <a:rPr lang="en-US" altLang="zh-TW" b="1" dirty="0"/>
              <a:t>&lt;/</a:t>
            </a:r>
            <a:r>
              <a:rPr lang="zh-TW" altLang="en-US" b="1" dirty="0"/>
              <a:t>標籤</a:t>
            </a:r>
            <a:r>
              <a:rPr lang="en-US" altLang="zh-TW" b="1" dirty="0"/>
              <a:t>&gt;</a:t>
            </a:r>
          </a:p>
          <a:p>
            <a:pPr lvl="1"/>
            <a:r>
              <a:rPr lang="en-US" altLang="zh-TW" b="1" dirty="0"/>
              <a:t>EX:</a:t>
            </a:r>
            <a:r>
              <a:rPr lang="zh-TW" altLang="en-US" b="1" dirty="0"/>
              <a:t> </a:t>
            </a:r>
            <a:r>
              <a:rPr lang="en-US" altLang="zh-TW" b="1" dirty="0"/>
              <a:t>&lt;a </a:t>
            </a:r>
            <a:r>
              <a:rPr lang="en-US" altLang="zh-TW" b="1" dirty="0" err="1"/>
              <a:t>href</a:t>
            </a:r>
            <a:r>
              <a:rPr lang="en-US" altLang="zh-TW" b="1" dirty="0"/>
              <a:t>=”www.google.com”&gt;GOOGLE&lt;/a&gt;</a:t>
            </a:r>
          </a:p>
          <a:p>
            <a:r>
              <a:rPr lang="zh-TW" altLang="en-US" b="1" dirty="0"/>
              <a:t>不區分大小寫</a:t>
            </a:r>
            <a:endParaRPr lang="en-US" altLang="zh-TW" b="1" dirty="0"/>
          </a:p>
          <a:p>
            <a:r>
              <a:rPr lang="zh-TW" altLang="en-US" b="1" dirty="0"/>
              <a:t>通用屬性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5</a:t>
            </a:fld>
            <a:endParaRPr lang="zh-TW" altLang="en-US" noProof="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116148"/>
              </p:ext>
            </p:extLst>
          </p:nvPr>
        </p:nvGraphicFramePr>
        <p:xfrm>
          <a:off x="2026666" y="4149080"/>
          <a:ext cx="932433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216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6216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屬性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備註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class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可指定元素多個類名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3624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id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指定元素唯一的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style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設定行內樣式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(inline style)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019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133972" y="260648"/>
            <a:ext cx="8909366" cy="1280890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TW" altLang="en-US" b="1" dirty="0"/>
              <a:t>標題</a:t>
            </a: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6772381"/>
              </p:ext>
            </p:extLst>
          </p:nvPr>
        </p:nvGraphicFramePr>
        <p:xfrm>
          <a:off x="1341884" y="1772816"/>
          <a:ext cx="9937104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855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96855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標籤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備註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&lt;html&gt;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定義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HTML</a:t>
                      </a:r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文件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3624">
                <a:tc>
                  <a:txBody>
                    <a:bodyPr/>
                    <a:lstStyle/>
                    <a:p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&lt;head&gt;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title, script, style, meta </a:t>
                      </a:r>
                      <a:r>
                        <a:rPr lang="zh-TW" altLang="en-US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等等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&lt;body&gt;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內文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18472">
                <a:tc>
                  <a:txBody>
                    <a:bodyPr/>
                    <a:lstStyle/>
                    <a:p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&lt;h1&gt;~&lt;h6&gt;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標題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altLang="zh-TW" sz="2000" b="1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hr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&gt;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水平線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8080">
                <a:tc>
                  <a:txBody>
                    <a:bodyPr/>
                    <a:lstStyle/>
                    <a:p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&lt;!–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註解 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--&gt;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註解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6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6138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&lt;head&gt;</a:t>
            </a:r>
            <a:r>
              <a:rPr lang="zh-TW" altLang="en-US" b="1" dirty="0"/>
              <a:t>標籤</a:t>
            </a:r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4238590"/>
              </p:ext>
            </p:extLst>
          </p:nvPr>
        </p:nvGraphicFramePr>
        <p:xfrm>
          <a:off x="1341884" y="1700808"/>
          <a:ext cx="10081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405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標籤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備註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9824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&lt;title&gt;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標題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3624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&lt;link&gt;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連結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CSS</a:t>
                      </a:r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檔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&lt;meta&gt;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瀏覽器解析訊息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43232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&lt;script&gt;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連結</a:t>
                      </a:r>
                      <a:r>
                        <a:rPr lang="en-US" altLang="zh-TW" sz="2000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js</a:t>
                      </a:r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檔案、</a:t>
                      </a:r>
                      <a:r>
                        <a:rPr lang="en-US" altLang="zh-TW" sz="2000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javascript</a:t>
                      </a:r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程式區塊</a:t>
                      </a:r>
                      <a:endParaRPr lang="en-US" altLang="zh-TW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&lt;style&gt;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設定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CSS</a:t>
                      </a:r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樣式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7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5092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&lt;meta&gt;</a:t>
            </a:r>
            <a:r>
              <a:rPr lang="zh-TW" altLang="en-US" b="1" dirty="0"/>
              <a:t>標籤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25860" y="1235554"/>
            <a:ext cx="10585176" cy="1905414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zh-TW" altLang="en-US" b="1" dirty="0" smtClean="0"/>
              <a:t>設定編碼</a:t>
            </a:r>
            <a:endParaRPr lang="en-US" altLang="zh-TW" b="1" dirty="0" smtClean="0"/>
          </a:p>
          <a:p>
            <a:pPr lvl="1">
              <a:lnSpc>
                <a:spcPct val="120000"/>
              </a:lnSpc>
            </a:pPr>
            <a:r>
              <a:rPr lang="en-US" altLang="zh-TW" b="1" dirty="0" smtClean="0"/>
              <a:t>HTML </a:t>
            </a:r>
            <a:r>
              <a:rPr lang="en-US" altLang="zh-TW" b="1" dirty="0"/>
              <a:t>4.01: </a:t>
            </a:r>
            <a:endParaRPr lang="en-US" altLang="zh-TW" b="1" dirty="0" smtClean="0"/>
          </a:p>
          <a:p>
            <a:pPr lvl="2">
              <a:lnSpc>
                <a:spcPct val="120000"/>
              </a:lnSpc>
            </a:pPr>
            <a:r>
              <a:rPr lang="en-US" altLang="zh-TW" b="1" dirty="0" smtClean="0"/>
              <a:t>&lt;</a:t>
            </a:r>
            <a:r>
              <a:rPr lang="en-US" altLang="zh-TW" b="1" dirty="0"/>
              <a:t>meta http-equiv="content-type" content="text/html; charset=UTF-8"&gt;</a:t>
            </a:r>
          </a:p>
          <a:p>
            <a:pPr lvl="1">
              <a:lnSpc>
                <a:spcPct val="120000"/>
              </a:lnSpc>
            </a:pPr>
            <a:r>
              <a:rPr lang="en-US" altLang="zh-TW" b="1" dirty="0"/>
              <a:t>HTML5: </a:t>
            </a:r>
            <a:endParaRPr lang="en-US" altLang="zh-TW" b="1" dirty="0" smtClean="0"/>
          </a:p>
          <a:p>
            <a:pPr lvl="2">
              <a:lnSpc>
                <a:spcPct val="120000"/>
              </a:lnSpc>
            </a:pPr>
            <a:r>
              <a:rPr lang="en-US" altLang="zh-TW" b="1" dirty="0" smtClean="0"/>
              <a:t>&lt;</a:t>
            </a:r>
            <a:r>
              <a:rPr lang="en-US" altLang="zh-TW" b="1" dirty="0"/>
              <a:t>meta charset="UTF-8"&gt;</a:t>
            </a:r>
          </a:p>
          <a:p>
            <a:pPr marL="0" indent="0">
              <a:buNone/>
            </a:pPr>
            <a:endParaRPr lang="en-US" altLang="zh-TW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8</a:t>
            </a:fld>
            <a:endParaRPr lang="zh-TW" altLang="en-US" noProof="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53141"/>
              </p:ext>
            </p:extLst>
          </p:nvPr>
        </p:nvGraphicFramePr>
        <p:xfrm>
          <a:off x="1773932" y="3230840"/>
          <a:ext cx="925251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83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45975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15293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屬性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值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備註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charset</a:t>
                      </a:r>
                      <a:endParaRPr lang="zh-TW" altLang="en-US" sz="2000" b="1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utf-8</a:t>
                      </a:r>
                      <a:endParaRPr lang="zh-TW" altLang="en-US" sz="2000" b="1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網頁編碼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8224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content</a:t>
                      </a:r>
                      <a:endParaRPr lang="zh-TW" altLang="en-US" sz="2000" b="1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zh-TW" sz="2000" b="1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ext</a:t>
                      </a:r>
                      <a:endParaRPr lang="zh-TW" altLang="en-US" sz="2000" b="1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http-</a:t>
                      </a:r>
                      <a:r>
                        <a:rPr lang="en-US" altLang="zh-TW" sz="2000" b="1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equiv</a:t>
                      </a:r>
                      <a:r>
                        <a:rPr lang="zh-TW" altLang="en-US" sz="2000" b="1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內容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http-</a:t>
                      </a:r>
                      <a:r>
                        <a:rPr lang="en-US" altLang="zh-TW" sz="2000" b="1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equiv</a:t>
                      </a:r>
                      <a:endParaRPr lang="zh-TW" altLang="en-US" sz="2000" b="1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content-type</a:t>
                      </a:r>
                    </a:p>
                    <a:p>
                      <a:r>
                        <a:rPr lang="en-US" altLang="zh-TW" sz="2000" b="1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refresh</a:t>
                      </a:r>
                      <a:endParaRPr lang="zh-TW" altLang="en-US" sz="2000" b="1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i="0" kern="12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HTTP header</a:t>
                      </a:r>
                      <a:r>
                        <a:rPr lang="zh-TW" altLang="en-US" sz="2000" b="1" i="0" kern="12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資訊</a:t>
                      </a:r>
                      <a:endParaRPr lang="zh-TW" altLang="en-US" sz="2000" b="1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b="1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name</a:t>
                      </a:r>
                      <a:endParaRPr lang="zh-TW" altLang="en-US" sz="2000" b="1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author</a:t>
                      </a:r>
                    </a:p>
                    <a:p>
                      <a:r>
                        <a:rPr lang="en-US" altLang="zh-TW" sz="2000" b="1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description</a:t>
                      </a:r>
                    </a:p>
                    <a:p>
                      <a:r>
                        <a:rPr lang="en-US" altLang="zh-TW" sz="2000" b="1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keywords</a:t>
                      </a:r>
                    </a:p>
                    <a:p>
                      <a:r>
                        <a:rPr lang="en-US" altLang="zh-TW" sz="2000" b="1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viewport</a:t>
                      </a:r>
                      <a:endParaRPr lang="zh-TW" altLang="en-US" sz="2000" b="1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作者</a:t>
                      </a:r>
                      <a:endParaRPr lang="en-US" altLang="zh-TW" sz="2000" b="1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  <a:p>
                      <a:r>
                        <a:rPr lang="zh-TW" altLang="en-US" sz="2000" b="1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描述</a:t>
                      </a:r>
                      <a:endParaRPr lang="en-US" altLang="zh-TW" sz="2000" b="1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  <a:p>
                      <a:r>
                        <a:rPr lang="zh-TW" altLang="en-US" sz="2000" b="1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關鍵字</a:t>
                      </a:r>
                      <a:endParaRPr lang="en-US" altLang="zh-TW" sz="2000" b="1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  <a:p>
                      <a:r>
                        <a:rPr lang="zh-TW" altLang="en-US" sz="2000" b="1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手機視窗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1491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TW" altLang="en-US" b="1" dirty="0"/>
              <a:t>段落</a:t>
            </a: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7331486"/>
              </p:ext>
            </p:extLst>
          </p:nvPr>
        </p:nvGraphicFramePr>
        <p:xfrm>
          <a:off x="1311238" y="1700808"/>
          <a:ext cx="10039758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987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198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標籤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備註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&lt;p&gt;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段落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&lt;</a:t>
                      </a:r>
                      <a:r>
                        <a:rPr lang="en-US" altLang="zh-TW" sz="2000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br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&gt;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換行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43625">
                <a:tc>
                  <a:txBody>
                    <a:bodyPr/>
                    <a:lstStyle/>
                    <a:p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&lt;pre&gt;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格式化段落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9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851415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TW" altLang="en-US" b="1" dirty="0"/>
              <a:t>文字格式化</a:t>
            </a: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617309"/>
              </p:ext>
            </p:extLst>
          </p:nvPr>
        </p:nvGraphicFramePr>
        <p:xfrm>
          <a:off x="1341884" y="1700808"/>
          <a:ext cx="10009112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455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0455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標籤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&lt;b&gt;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租體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3624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altLang="zh-TW" sz="2000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&gt;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斜體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&lt;sub&gt;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下標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43232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&lt;sup&gt;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上標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&lt;ins&gt;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新增標示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4284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&lt;del&gt;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刪除標示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&lt;mark&gt;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標註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10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50323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Styles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269876" y="1628800"/>
            <a:ext cx="8913078" cy="3777622"/>
          </a:xfrm>
        </p:spPr>
        <p:txBody>
          <a:bodyPr/>
          <a:lstStyle/>
          <a:p>
            <a:r>
              <a:rPr lang="en-US" altLang="zh-TW" b="1" dirty="0"/>
              <a:t>&lt;</a:t>
            </a:r>
            <a:r>
              <a:rPr lang="zh-TW" altLang="en-US" b="1" dirty="0"/>
              <a:t>標籤</a:t>
            </a:r>
            <a:r>
              <a:rPr lang="en-US" altLang="zh-TW" b="1" dirty="0"/>
              <a:t> style=”</a:t>
            </a:r>
            <a:r>
              <a:rPr lang="zh-TW" altLang="en-US" b="1" dirty="0"/>
              <a:t>屬性</a:t>
            </a:r>
            <a:r>
              <a:rPr lang="en-US" altLang="zh-TW" b="1" dirty="0"/>
              <a:t>:</a:t>
            </a:r>
            <a:r>
              <a:rPr lang="zh-TW" altLang="en-US" b="1" dirty="0"/>
              <a:t>值</a:t>
            </a:r>
            <a:r>
              <a:rPr lang="en-US" altLang="zh-TW" b="1" i="1" dirty="0"/>
              <a:t>;</a:t>
            </a:r>
            <a:r>
              <a:rPr lang="en-US" altLang="zh-TW" b="1" dirty="0"/>
              <a:t>”&gt;&lt;/</a:t>
            </a:r>
            <a:r>
              <a:rPr lang="zh-TW" altLang="en-US" b="1" dirty="0"/>
              <a:t>標籤</a:t>
            </a:r>
            <a:r>
              <a:rPr lang="en-US" altLang="zh-TW" b="1" dirty="0"/>
              <a:t>&gt;</a:t>
            </a:r>
          </a:p>
          <a:p>
            <a:pPr lvl="1"/>
            <a:r>
              <a:rPr lang="en-US" altLang="zh-TW" b="1" dirty="0"/>
              <a:t>EX: &lt;p style=”</a:t>
            </a:r>
            <a:r>
              <a:rPr lang="en-US" altLang="zh-TW" b="1" dirty="0" err="1"/>
              <a:t>color:red</a:t>
            </a:r>
            <a:r>
              <a:rPr lang="en-US" altLang="zh-TW" b="1" dirty="0"/>
              <a:t>;”&gt;</a:t>
            </a:r>
            <a:r>
              <a:rPr lang="zh-TW" altLang="en-US" b="1" dirty="0"/>
              <a:t>段落</a:t>
            </a:r>
            <a:r>
              <a:rPr lang="en-US" altLang="zh-TW" b="1" dirty="0"/>
              <a:t>&lt;/p&gt;</a:t>
            </a:r>
          </a:p>
          <a:p>
            <a:r>
              <a:rPr lang="zh-TW" altLang="en-US" b="1" dirty="0"/>
              <a:t>改用</a:t>
            </a:r>
            <a:r>
              <a:rPr lang="en-US" altLang="zh-TW" b="1" dirty="0"/>
              <a:t>&lt;link&gt;</a:t>
            </a:r>
            <a:r>
              <a:rPr lang="zh-TW" altLang="en-US" b="1" dirty="0"/>
              <a:t>連結檔案或</a:t>
            </a:r>
            <a:r>
              <a:rPr lang="en-US" altLang="zh-TW" b="1" dirty="0"/>
              <a:t>&lt;style&gt;</a:t>
            </a:r>
            <a:r>
              <a:rPr lang="zh-TW" altLang="en-US" b="1" dirty="0"/>
              <a:t>標籤中指定</a:t>
            </a:r>
            <a:endParaRPr lang="en-US" altLang="zh-TW" b="1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11</a:t>
            </a:fld>
            <a:endParaRPr lang="zh-TW" altLang="en-US" noProof="0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645219"/>
              </p:ext>
            </p:extLst>
          </p:nvPr>
        </p:nvGraphicFramePr>
        <p:xfrm>
          <a:off x="2031469" y="3524096"/>
          <a:ext cx="953555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777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677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2092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屬性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參數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color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保留顏色或 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16 </a:t>
                      </a:r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進制碼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RGB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2053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background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保留顏色或 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16 </a:t>
                      </a:r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進制碼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RGB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font-size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數值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單位 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ex : 16px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20144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text-align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left,center,right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6973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TW" altLang="en-US" b="1" dirty="0"/>
              <a:t>註解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13892" y="1628800"/>
            <a:ext cx="8913078" cy="3777622"/>
          </a:xfrm>
        </p:spPr>
        <p:txBody>
          <a:bodyPr/>
          <a:lstStyle/>
          <a:p>
            <a:r>
              <a:rPr lang="en-US" altLang="zh-TW" dirty="0"/>
              <a:t>&lt;</a:t>
            </a:r>
            <a:r>
              <a:rPr lang="en-US" altLang="zh-TW" b="1" dirty="0"/>
              <a:t>!-- </a:t>
            </a:r>
            <a:r>
              <a:rPr lang="zh-TW" altLang="en-US" b="1" dirty="0"/>
              <a:t>註解內容 </a:t>
            </a:r>
            <a:r>
              <a:rPr lang="en-US" altLang="zh-TW" dirty="0">
                <a:sym typeface="Wingdings" panose="05000000000000000000" pitchFamily="2" charset="2"/>
              </a:rPr>
              <a:t>--&gt;</a:t>
            </a:r>
            <a:endParaRPr lang="en-US" altLang="zh-TW" b="1" dirty="0"/>
          </a:p>
          <a:p>
            <a:r>
              <a:rPr lang="zh-TW" altLang="en-US" dirty="0" smtClean="0"/>
              <a:t>快速鍵</a:t>
            </a:r>
            <a:r>
              <a:rPr lang="en-US" altLang="zh-TW" dirty="0" smtClean="0"/>
              <a:t>:</a:t>
            </a:r>
            <a:r>
              <a:rPr lang="en-US" altLang="zh-TW" b="1" dirty="0" smtClean="0"/>
              <a:t>ctrl</a:t>
            </a:r>
            <a:r>
              <a:rPr lang="en-US" altLang="zh-TW" b="1" dirty="0"/>
              <a:t>+/</a:t>
            </a:r>
          </a:p>
          <a:p>
            <a:r>
              <a:rPr lang="zh-TW" altLang="en-US" b="1" dirty="0"/>
              <a:t>可區塊註解</a:t>
            </a:r>
            <a:endParaRPr lang="en-US" altLang="zh-TW" b="1" dirty="0"/>
          </a:p>
          <a:p>
            <a:r>
              <a:rPr lang="zh-TW" altLang="en-US" b="1" dirty="0"/>
              <a:t>條件式註解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12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2007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TW" altLang="en-US" b="1" dirty="0"/>
              <a:t>顏色</a:t>
            </a: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8292760"/>
              </p:ext>
            </p:extLst>
          </p:nvPr>
        </p:nvGraphicFramePr>
        <p:xfrm>
          <a:off x="1269876" y="1700808"/>
          <a:ext cx="10153128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656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7656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類型</a:t>
                      </a:r>
                    </a:p>
                  </a:txBody>
                  <a:tcPr marL="89215" marR="892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值</a:t>
                      </a:r>
                    </a:p>
                  </a:txBody>
                  <a:tcPr marL="89215" marR="892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保留字</a:t>
                      </a:r>
                    </a:p>
                  </a:txBody>
                  <a:tcPr marL="89215" marR="89215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red,blue,yellow,green,orange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9215" marR="89215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RGB</a:t>
                      </a:r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value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9215" marR="892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RGB(0,0,255)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9215" marR="892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16</a:t>
                      </a:r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進制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(Hex value)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9215" marR="892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#0000FF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89215" marR="892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13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17356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TW" altLang="en-US" b="1" dirty="0"/>
              <a:t>安全色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97868" y="1556792"/>
            <a:ext cx="5688632" cy="3777622"/>
          </a:xfrm>
        </p:spPr>
        <p:txBody>
          <a:bodyPr/>
          <a:lstStyle/>
          <a:p>
            <a:r>
              <a:rPr lang="en-US" altLang="zh-TW" b="1" dirty="0"/>
              <a:t>216</a:t>
            </a:r>
            <a:r>
              <a:rPr lang="zh-TW" altLang="en-US" b="1" dirty="0"/>
              <a:t> 種顏色</a:t>
            </a:r>
            <a:endParaRPr lang="en-US" altLang="zh-TW" b="1" dirty="0"/>
          </a:p>
          <a:p>
            <a:pPr lvl="1"/>
            <a:r>
              <a:rPr lang="zh-TW" altLang="en-US" b="1" dirty="0"/>
              <a:t>微軟</a:t>
            </a:r>
            <a:r>
              <a:rPr lang="zh-TW" altLang="en-US" dirty="0"/>
              <a:t>和</a:t>
            </a:r>
            <a:r>
              <a:rPr lang="zh-CN" altLang="en-US" b="1" dirty="0"/>
              <a:t> </a:t>
            </a:r>
            <a:r>
              <a:rPr lang="en-US" altLang="zh-CN" b="1" dirty="0"/>
              <a:t>Mac </a:t>
            </a:r>
            <a:r>
              <a:rPr lang="zh-TW" altLang="en-US" b="1" dirty="0"/>
              <a:t>各</a:t>
            </a:r>
            <a:r>
              <a:rPr lang="en-US" altLang="zh-TW" b="1" dirty="0"/>
              <a:t>20</a:t>
            </a:r>
            <a:r>
              <a:rPr lang="zh-TW" altLang="en-US" b="1" dirty="0"/>
              <a:t>種</a:t>
            </a:r>
            <a:r>
              <a:rPr lang="zh-TW" altLang="en-US" dirty="0"/>
              <a:t>固定系顏色</a:t>
            </a:r>
            <a:endParaRPr lang="en-US" altLang="zh-CN" b="1" dirty="0"/>
          </a:p>
          <a:p>
            <a:r>
              <a:rPr lang="zh-TW" altLang="en-US" b="1" dirty="0"/>
              <a:t>如何檢測安全色</a:t>
            </a:r>
            <a:endParaRPr lang="en-US" altLang="zh-TW" b="1" dirty="0"/>
          </a:p>
          <a:p>
            <a:r>
              <a:rPr lang="zh-TW" altLang="en-US" b="1" dirty="0"/>
              <a:t>用圖片取代</a:t>
            </a:r>
            <a:endParaRPr lang="en-US" altLang="zh-CN" b="1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14</a:t>
            </a:fld>
            <a:endParaRPr lang="zh-TW" altLang="en-US" noProof="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452" y="1556792"/>
            <a:ext cx="5170704" cy="449690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A128E4AB-6FB0-4D37-8104-F99EEC5FE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701" y="3854752"/>
            <a:ext cx="3711453" cy="274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19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TW" altLang="en-US" b="1" dirty="0"/>
              <a:t>超連結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41884" y="1628800"/>
            <a:ext cx="8913078" cy="3777622"/>
          </a:xfrm>
        </p:spPr>
        <p:txBody>
          <a:bodyPr/>
          <a:lstStyle/>
          <a:p>
            <a:r>
              <a:rPr lang="en-US" altLang="zh-TW" b="1" dirty="0"/>
              <a:t>&lt;a</a:t>
            </a:r>
            <a:r>
              <a:rPr lang="zh-TW" altLang="en-US" b="1" dirty="0"/>
              <a:t> </a:t>
            </a:r>
            <a:r>
              <a:rPr lang="en-US" altLang="zh-TW" b="1" dirty="0" err="1"/>
              <a:t>href</a:t>
            </a:r>
            <a:r>
              <a:rPr lang="en-US" altLang="zh-TW" b="1" dirty="0"/>
              <a:t>=”</a:t>
            </a:r>
            <a:r>
              <a:rPr lang="zh-TW" altLang="en-US" b="1" dirty="0"/>
              <a:t>網址</a:t>
            </a:r>
            <a:r>
              <a:rPr lang="en-US" altLang="zh-TW" b="1" dirty="0"/>
              <a:t>”&gt;</a:t>
            </a:r>
            <a:r>
              <a:rPr lang="zh-TW" altLang="en-US" b="1" dirty="0"/>
              <a:t>連結文字</a:t>
            </a:r>
            <a:r>
              <a:rPr lang="en-US" altLang="zh-TW" b="1" dirty="0"/>
              <a:t>&lt;/a&gt;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15</a:t>
            </a:fld>
            <a:endParaRPr lang="zh-TW" altLang="en-US" noProof="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98275"/>
              </p:ext>
            </p:extLst>
          </p:nvPr>
        </p:nvGraphicFramePr>
        <p:xfrm>
          <a:off x="1701924" y="2492896"/>
          <a:ext cx="4536504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25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6825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屬性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備註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href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網址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URL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target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frame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name</a:t>
                      </a:r>
                    </a:p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_blank</a:t>
                      </a:r>
                    </a:p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_self</a:t>
                      </a:r>
                    </a:p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_parent</a:t>
                      </a:r>
                    </a:p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_top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name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錨點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460013"/>
              </p:ext>
            </p:extLst>
          </p:nvPr>
        </p:nvGraphicFramePr>
        <p:xfrm>
          <a:off x="6958508" y="2492896"/>
          <a:ext cx="4392488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24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9624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CSS</a:t>
                      </a:r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屬性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備註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a:link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未訪問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a:</a:t>
                      </a:r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visited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訪問過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a:</a:t>
                      </a:r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hover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移入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a:active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點下去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1912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TW" altLang="en-US" b="1" dirty="0"/>
              <a:t>圖片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269876" y="1628800"/>
            <a:ext cx="8913078" cy="3777622"/>
          </a:xfrm>
        </p:spPr>
        <p:txBody>
          <a:bodyPr/>
          <a:lstStyle/>
          <a:p>
            <a:r>
              <a:rPr lang="en-US" altLang="zh-TW" b="1" dirty="0"/>
              <a:t>&lt;</a:t>
            </a:r>
            <a:r>
              <a:rPr lang="en-US" altLang="zh-TW" b="1" dirty="0" err="1"/>
              <a:t>img</a:t>
            </a:r>
            <a:r>
              <a:rPr lang="en-US" altLang="zh-TW" b="1" dirty="0"/>
              <a:t> </a:t>
            </a:r>
            <a:r>
              <a:rPr lang="en-US" altLang="zh-TW" b="1" dirty="0" err="1"/>
              <a:t>src</a:t>
            </a:r>
            <a:r>
              <a:rPr lang="en-US" altLang="zh-TW" b="1" dirty="0"/>
              <a:t>=”</a:t>
            </a:r>
            <a:r>
              <a:rPr lang="zh-TW" altLang="en-US" b="1" dirty="0"/>
              <a:t>圖片位置</a:t>
            </a:r>
            <a:r>
              <a:rPr lang="en-US" altLang="zh-TW" b="1" dirty="0"/>
              <a:t>”/&gt;</a:t>
            </a:r>
            <a:endParaRPr lang="zh-TW" altLang="en-US" b="1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16</a:t>
            </a:fld>
            <a:endParaRPr lang="zh-TW" altLang="en-US" noProof="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100913"/>
              </p:ext>
            </p:extLst>
          </p:nvPr>
        </p:nvGraphicFramePr>
        <p:xfrm>
          <a:off x="1557908" y="2492896"/>
          <a:ext cx="928903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451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4451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屬性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備註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src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圖片路徑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3624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alt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替代文字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width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43232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height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高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align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bottom,middle,top,left,right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309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TW" altLang="en-US" b="1" dirty="0"/>
              <a:t>表格</a:t>
            </a: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9464830"/>
              </p:ext>
            </p:extLst>
          </p:nvPr>
        </p:nvGraphicFramePr>
        <p:xfrm>
          <a:off x="1629916" y="2276872"/>
          <a:ext cx="3888432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21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4421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標籤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備註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altLang="zh-TW" sz="2000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表頭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3624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altLang="zh-TW" sz="2000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tr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&gt;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列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&lt;td&gt;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43232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altLang="zh-TW" sz="2000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thead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&gt;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表頭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altLang="zh-TW" sz="2000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tbody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&gt;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表內容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altLang="zh-TW" sz="2000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tfoot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&gt;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表底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17</a:t>
            </a:fld>
            <a:endParaRPr lang="zh-TW" altLang="en-US" noProof="0" dirty="0"/>
          </a:p>
        </p:txBody>
      </p:sp>
      <p:sp>
        <p:nvSpPr>
          <p:cNvPr id="7" name="內容版面配置區 2"/>
          <p:cNvSpPr txBox="1">
            <a:spLocks/>
          </p:cNvSpPr>
          <p:nvPr/>
        </p:nvSpPr>
        <p:spPr>
          <a:xfrm>
            <a:off x="1269876" y="1628801"/>
            <a:ext cx="3275855" cy="365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463550" indent="-2317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682625" indent="-2190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857250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10302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1207008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表格標籤</a:t>
            </a:r>
          </a:p>
        </p:txBody>
      </p:sp>
      <p:sp>
        <p:nvSpPr>
          <p:cNvPr id="8" name="內容版面配置區 2"/>
          <p:cNvSpPr txBox="1">
            <a:spLocks/>
          </p:cNvSpPr>
          <p:nvPr/>
        </p:nvSpPr>
        <p:spPr>
          <a:xfrm>
            <a:off x="5950396" y="1618456"/>
            <a:ext cx="3275855" cy="3854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463550" indent="-2317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682625" indent="-2190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857250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10302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1207008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&lt;table&gt;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標籤屬性</a:t>
            </a:r>
          </a:p>
        </p:txBody>
      </p:sp>
      <p:graphicFrame>
        <p:nvGraphicFramePr>
          <p:cNvPr id="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2344398"/>
              </p:ext>
            </p:extLst>
          </p:nvPr>
        </p:nvGraphicFramePr>
        <p:xfrm>
          <a:off x="6238428" y="2276872"/>
          <a:ext cx="4824536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22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4122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8184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屬性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72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align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對齊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7279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border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邊框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i="0" kern="1200" baseline="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cellpadding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留白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43232">
                <a:tc>
                  <a:txBody>
                    <a:bodyPr/>
                    <a:lstStyle/>
                    <a:p>
                      <a:r>
                        <a:rPr lang="en-US" altLang="zh-TW" sz="2000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cellspacing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間距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87279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width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87279">
                <a:tc>
                  <a:txBody>
                    <a:bodyPr/>
                    <a:lstStyle/>
                    <a:p>
                      <a:r>
                        <a:rPr lang="en-US" altLang="zh-TW" sz="2000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colspan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水平合併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87279">
                <a:tc>
                  <a:txBody>
                    <a:bodyPr/>
                    <a:lstStyle/>
                    <a:p>
                      <a:r>
                        <a:rPr lang="en-US" altLang="zh-TW" sz="2000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rowspan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4570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垂直合併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5476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TW" altLang="en-US" b="1" dirty="0"/>
              <a:t>列表</a:t>
            </a:r>
          </a:p>
        </p:txBody>
      </p:sp>
      <p:graphicFrame>
        <p:nvGraphicFramePr>
          <p:cNvPr id="10" name="內容版面配置區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8125146"/>
              </p:ext>
            </p:extLst>
          </p:nvPr>
        </p:nvGraphicFramePr>
        <p:xfrm>
          <a:off x="1341884" y="1772816"/>
          <a:ext cx="9793089" cy="3737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436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26436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26436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1499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標籤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屬性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備註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65127">
                <a:tc>
                  <a:txBody>
                    <a:bodyPr/>
                    <a:lstStyle/>
                    <a:p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altLang="zh-TW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type="disc”</a:t>
                      </a:r>
                    </a:p>
                    <a:p>
                      <a:r>
                        <a:rPr lang="en-US" altLang="zh-TW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type="circle”</a:t>
                      </a:r>
                    </a:p>
                    <a:p>
                      <a:r>
                        <a:rPr lang="en-US" altLang="zh-TW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type="square”</a:t>
                      </a:r>
                    </a:p>
                    <a:p>
                      <a:r>
                        <a:rPr lang="en-US" altLang="zh-TW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type="none”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4570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CSS:list-style</a:t>
                      </a:r>
                      <a:r>
                        <a:rPr lang="en-US" altLang="zh-TW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(list-style-type)</a:t>
                      </a:r>
                    </a:p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altLang="zh-TW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type="1“</a:t>
                      </a:r>
                    </a:p>
                    <a:p>
                      <a:r>
                        <a:rPr lang="en-US" altLang="zh-TW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type="A“</a:t>
                      </a:r>
                    </a:p>
                    <a:p>
                      <a:r>
                        <a:rPr lang="en-US" altLang="zh-TW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type="a“</a:t>
                      </a:r>
                    </a:p>
                    <a:p>
                      <a:r>
                        <a:rPr lang="en-US" altLang="zh-TW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type="I“</a:t>
                      </a:r>
                    </a:p>
                    <a:p>
                      <a:r>
                        <a:rPr lang="en-US" altLang="zh-TW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type="</a:t>
                      </a:r>
                      <a:r>
                        <a:rPr lang="en-US" altLang="zh-TW" sz="2000" b="1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"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&lt;dl&gt;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4570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altLang="zh-TW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&gt;&lt;</a:t>
                      </a:r>
                      <a:r>
                        <a:rPr lang="en-US" altLang="zh-TW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dd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18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077242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TW" altLang="en-US" b="1" dirty="0"/>
              <a:t>區塊元素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269876" y="1628800"/>
            <a:ext cx="8913078" cy="4752528"/>
          </a:xfrm>
        </p:spPr>
        <p:txBody>
          <a:bodyPr>
            <a:noAutofit/>
          </a:bodyPr>
          <a:lstStyle/>
          <a:p>
            <a:r>
              <a:rPr lang="en-US" altLang="zh-TW" b="1" dirty="0"/>
              <a:t>Block-level</a:t>
            </a:r>
            <a:r>
              <a:rPr lang="zh-TW" altLang="en-US" b="1" dirty="0"/>
              <a:t> </a:t>
            </a:r>
            <a:r>
              <a:rPr lang="en-US" altLang="zh-TW" b="1" dirty="0"/>
              <a:t>Elements</a:t>
            </a:r>
          </a:p>
          <a:p>
            <a:pPr lvl="1"/>
            <a:r>
              <a:rPr lang="zh-TW" altLang="en-US" b="1" dirty="0"/>
              <a:t>結束後自動換行</a:t>
            </a:r>
            <a:endParaRPr lang="en-US" altLang="zh-TW" b="1" dirty="0"/>
          </a:p>
          <a:p>
            <a:pPr lvl="1"/>
            <a:r>
              <a:rPr lang="zh-TW" altLang="en-US" b="1" dirty="0"/>
              <a:t>元素寬會占滿</a:t>
            </a:r>
            <a:endParaRPr lang="en-US" altLang="zh-TW" b="1" dirty="0"/>
          </a:p>
          <a:p>
            <a:pPr lvl="1"/>
            <a:r>
              <a:rPr lang="en-US" altLang="zh-TW" b="1" dirty="0"/>
              <a:t>EX</a:t>
            </a:r>
            <a:r>
              <a:rPr lang="zh-TW" altLang="en-US" b="1" dirty="0"/>
              <a:t> </a:t>
            </a:r>
            <a:r>
              <a:rPr lang="en-US" altLang="zh-TW" b="1" dirty="0"/>
              <a:t>:</a:t>
            </a:r>
            <a:r>
              <a:rPr lang="zh-TW" altLang="en-US" b="1" dirty="0"/>
              <a:t> </a:t>
            </a:r>
            <a:r>
              <a:rPr lang="pt-BR" altLang="zh-TW" b="1" dirty="0"/>
              <a:t>&lt;div&gt;,&lt;h1&gt; - &lt;h6&gt;,&lt;p&gt;,&lt;form&gt;</a:t>
            </a:r>
            <a:endParaRPr lang="en-US" altLang="zh-TW" b="1" dirty="0"/>
          </a:p>
          <a:p>
            <a:r>
              <a:rPr lang="en-US" altLang="zh-TW" b="1" dirty="0"/>
              <a:t>Inline Elements</a:t>
            </a:r>
          </a:p>
          <a:p>
            <a:pPr lvl="1"/>
            <a:r>
              <a:rPr lang="zh-TW" altLang="en-US" b="1" dirty="0"/>
              <a:t>結束後不斷行</a:t>
            </a:r>
            <a:endParaRPr lang="en-US" altLang="zh-TW" b="1" dirty="0"/>
          </a:p>
          <a:p>
            <a:pPr lvl="1"/>
            <a:r>
              <a:rPr lang="zh-TW" altLang="en-US" b="1" dirty="0"/>
              <a:t>寬為內容大小</a:t>
            </a:r>
            <a:endParaRPr lang="en-US" altLang="zh-TW" b="1" dirty="0"/>
          </a:p>
          <a:p>
            <a:pPr lvl="1"/>
            <a:r>
              <a:rPr lang="en-US" altLang="zh-TW" b="1" dirty="0"/>
              <a:t>EX</a:t>
            </a:r>
            <a:r>
              <a:rPr lang="zh-TW" altLang="en-US" b="1" dirty="0"/>
              <a:t> </a:t>
            </a:r>
            <a:r>
              <a:rPr lang="en-US" altLang="zh-TW" b="1" dirty="0"/>
              <a:t>:</a:t>
            </a:r>
            <a:r>
              <a:rPr lang="zh-TW" altLang="en-US" b="1" dirty="0"/>
              <a:t> </a:t>
            </a:r>
            <a:r>
              <a:rPr lang="en-US" altLang="zh-TW" b="1" dirty="0"/>
              <a:t>&lt;span&gt;,&lt;a&gt;,&lt;</a:t>
            </a:r>
            <a:r>
              <a:rPr lang="en-US" altLang="zh-TW" b="1" dirty="0" err="1"/>
              <a:t>img</a:t>
            </a:r>
            <a:r>
              <a:rPr lang="en-US" altLang="zh-TW" b="1" dirty="0"/>
              <a:t>&gt;</a:t>
            </a:r>
          </a:p>
          <a:p>
            <a:pPr lvl="1"/>
            <a:endParaRPr lang="en-US" altLang="zh-TW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19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652336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TW" altLang="en-US" b="1" dirty="0"/>
              <a:t>實體</a:t>
            </a:r>
          </a:p>
        </p:txBody>
      </p:sp>
      <p:graphicFrame>
        <p:nvGraphicFramePr>
          <p:cNvPr id="14" name="內容版面配置區 1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0898821"/>
              </p:ext>
            </p:extLst>
          </p:nvPr>
        </p:nvGraphicFramePr>
        <p:xfrm>
          <a:off x="1341884" y="1556792"/>
          <a:ext cx="979308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436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26436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26436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9584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結果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備註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實體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空白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&amp;</a:t>
                      </a:r>
                      <a:r>
                        <a:rPr lang="en-US" altLang="zh-TW" sz="2000" b="1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nbsp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&lt;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小於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&amp;</a:t>
                      </a:r>
                      <a:r>
                        <a:rPr lang="en-US" altLang="zh-TW" sz="2000" b="1" i="0" kern="1200" baseline="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lt</a:t>
                      </a:r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&gt;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大於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&amp;</a:t>
                      </a:r>
                      <a:r>
                        <a:rPr lang="en-US" altLang="zh-TW" sz="2000" b="1" i="0" kern="1200" baseline="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gt</a:t>
                      </a:r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&amp;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等號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&amp;amp;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"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雙引號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&amp;</a:t>
                      </a:r>
                      <a:r>
                        <a:rPr lang="en-US" altLang="zh-TW" sz="2000" b="1" i="0" kern="1200" baseline="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quot</a:t>
                      </a:r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'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單引號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&amp;</a:t>
                      </a:r>
                      <a:r>
                        <a:rPr lang="en-US" altLang="zh-TW" sz="2000" b="1" i="0" kern="1200" baseline="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apos</a:t>
                      </a:r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©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版權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&amp;copy;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®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註冊商標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&amp;</a:t>
                      </a:r>
                      <a:r>
                        <a:rPr lang="en-US" altLang="zh-TW" sz="2000" b="1" i="0" kern="1200" baseline="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reg</a:t>
                      </a:r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r>
                        <a:rPr lang="zh-TW" altLang="en-US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™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商標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&amp;trade;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×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乘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&amp;times;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÷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除</a:t>
                      </a: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&amp;divide;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89215" marR="8921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龍晟科技有限公司</a:t>
            </a:r>
            <a:endParaRPr lang="zh-TW" altLang="en-US" noProof="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noProof="0" smtClean="0"/>
              <a:pPr/>
              <a:t>20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865463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作</a:t>
            </a:r>
            <a:r>
              <a:rPr lang="zh-TW" altLang="en-US" dirty="0" smtClean="0"/>
              <a:t>業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13892" y="1772816"/>
            <a:ext cx="10081120" cy="4680520"/>
          </a:xfrm>
        </p:spPr>
        <p:txBody>
          <a:bodyPr/>
          <a:lstStyle/>
          <a:p>
            <a:r>
              <a:rPr lang="zh-TW" altLang="en-US" dirty="0" smtClean="0"/>
              <a:t>需求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表格寬度</a:t>
            </a:r>
            <a:r>
              <a:rPr lang="en-US" altLang="zh-TW" dirty="0" smtClean="0"/>
              <a:t>300px</a:t>
            </a:r>
          </a:p>
          <a:p>
            <a:pPr lvl="1"/>
            <a:r>
              <a:rPr lang="zh-TW" altLang="en-US" dirty="0" smtClean="0"/>
              <a:t>水平合併及垂直合併表格欄位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超連結回首頁功能</a:t>
            </a:r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smtClean="0"/>
              <a:t>龍晟科技有限公司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altLang="zh-TW" smtClean="0"/>
              <a:pPr/>
              <a:t>21</a:t>
            </a:fld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492" y="2276872"/>
            <a:ext cx="351472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738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絲縷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佈景主題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1564227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Take your audience through a digital tunnel where they'll  burst through to the other side and see the information you want to present. Show them lists, charts, tables, SmartArt,  and pictures using a variety of layouts in widescreen (16X9) format. This design works well for subjects on science and technology, computers, communication, and more.   
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2012-05-11T02:04:00+00:00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TP102895246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835483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REDMOND\v-vaddu</DisplayName>
        <AccountId>2567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74228E6B-D70C-44BB-A81F-A245495F612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CCB507-0646-4A50-A4F7-7F385079D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0E41224-0370-4595-877C-23316CD80004}">
  <ds:schemaRefs>
    <ds:schemaRef ds:uri="4873beb7-5857-4685-be1f-d57550cc96cc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1432</Words>
  <Application>Microsoft Office PowerPoint</Application>
  <PresentationFormat>自訂</PresentationFormat>
  <Paragraphs>392</Paragraphs>
  <Slides>22</Slides>
  <Notes>13</Notes>
  <HiddenSlides>1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33" baseType="lpstr">
      <vt:lpstr>Century Gothic</vt:lpstr>
      <vt:lpstr>Microsoft JhengHei UI</vt:lpstr>
      <vt:lpstr>華康儷粗圓外字集</vt:lpstr>
      <vt:lpstr>微軟正黑體</vt:lpstr>
      <vt:lpstr>標楷體</vt:lpstr>
      <vt:lpstr>Arial</vt:lpstr>
      <vt:lpstr>Corbel</vt:lpstr>
      <vt:lpstr>Times New Roman</vt:lpstr>
      <vt:lpstr>Wingdings</vt:lpstr>
      <vt:lpstr>Wingdings 3</vt:lpstr>
      <vt:lpstr>絲縷</vt:lpstr>
      <vt:lpstr>PowerPoint 簡報</vt:lpstr>
      <vt:lpstr>HTML</vt:lpstr>
      <vt:lpstr>HTML版本</vt:lpstr>
      <vt:lpstr>構成網頁三大元素</vt:lpstr>
      <vt:lpstr>HTML四大區塊</vt:lpstr>
      <vt:lpstr>HTML元素</vt:lpstr>
      <vt:lpstr>HTML標題</vt:lpstr>
      <vt:lpstr>HTML &lt;head&gt;標籤</vt:lpstr>
      <vt:lpstr>HTML &lt;meta&gt;標籤</vt:lpstr>
      <vt:lpstr>HTML段落</vt:lpstr>
      <vt:lpstr>HTML文字格式化</vt:lpstr>
      <vt:lpstr>HTML Styles</vt:lpstr>
      <vt:lpstr>HTML註解</vt:lpstr>
      <vt:lpstr>HTML顏色</vt:lpstr>
      <vt:lpstr>WEB安全色</vt:lpstr>
      <vt:lpstr>HTML超連結</vt:lpstr>
      <vt:lpstr>HTML圖片</vt:lpstr>
      <vt:lpstr>HTML表格</vt:lpstr>
      <vt:lpstr>HTML列表</vt:lpstr>
      <vt:lpstr>HTML區塊元素</vt:lpstr>
      <vt:lpstr>HTML實體</vt:lpstr>
      <vt:lpstr>作業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2017-01-14T15:15:54Z</dcterms:created>
  <dcterms:modified xsi:type="dcterms:W3CDTF">2020-10-05T22:01:58Z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